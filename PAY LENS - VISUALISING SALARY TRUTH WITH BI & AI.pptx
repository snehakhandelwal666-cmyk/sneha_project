
<file path=[Content_Types].xml><?xml version="1.0" encoding="utf-8"?>
<Types xmlns="http://schemas.openxmlformats.org/package/2006/content-types">
  <Default Extension="emf" ContentType="image/x-emf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tags/tag16.xml" ContentType="application/vnd.openxmlformats-officedocument.presentationml.tags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notesSlides/notesSlide13.xml" ContentType="application/vnd.openxmlformats-officedocument.presentationml.notesSlide+xml"/>
  <Override PartName="/ppt/tags/tag18.xml" ContentType="application/vnd.openxmlformats-officedocument.presentationml.tags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72" r:id="rId6"/>
    <p:sldId id="260" r:id="rId7"/>
    <p:sldId id="280" r:id="rId8"/>
    <p:sldId id="261" r:id="rId9"/>
    <p:sldId id="262" r:id="rId10"/>
    <p:sldId id="263" r:id="rId11"/>
    <p:sldId id="264" r:id="rId12"/>
    <p:sldId id="279" r:id="rId13"/>
    <p:sldId id="265" r:id="rId14"/>
    <p:sldId id="266" r:id="rId15"/>
  </p:sldIdLst>
  <p:sldSz cx="9144000" cy="5143500" type="screen16x9"/>
  <p:notesSz cx="5143500" cy="9144000"/>
  <p:custDataLst>
    <p:tags r:id="rId17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101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87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605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557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6" Type="http://schemas.openxmlformats.org/officeDocument/2006/relationships/image" Target="../media/image17.emf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87458" y="451426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1288" y="2510327"/>
            <a:ext cx="4224335" cy="431080"/>
            <a:chOff x="0" y="2985846"/>
            <a:chExt cx="4224335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187307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4979" y="3645023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54979" y="380660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Sneha khandelwal 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757" t="2453" r="27842" b="53701"/>
          <a:stretch>
            <a:fillRect/>
          </a:stretch>
        </p:blipFill>
        <p:spPr>
          <a:xfrm>
            <a:off x="429808" y="3639905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76086" y="364222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76086" y="3803810"/>
            <a:ext cx="2272871" cy="48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snehakhandelwal666@gmail.com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859" t="52379" r="26874" b="2349"/>
          <a:stretch>
            <a:fillRect/>
          </a:stretch>
        </p:blipFill>
        <p:spPr>
          <a:xfrm>
            <a:off x="2747249" y="3631981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R. </a:t>
              </a: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Umamaheshwari</a:t>
              </a: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 </a:t>
              </a: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595271" y="566321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9729"/>
          <a:stretch>
            <a:fillRect/>
          </a:stretch>
        </p:blipFill>
        <p:spPr>
          <a:xfrm>
            <a:off x="173754" y="773121"/>
            <a:ext cx="3854253" cy="1849530"/>
          </a:xfrm>
          <a:prstGeom prst="rect">
            <a:avLst/>
          </a:prstGeom>
        </p:spPr>
      </p:pic>
      <p:sp>
        <p:nvSpPr>
          <p:cNvPr id="52" name="TextBox 42">
            <a:extLst>
              <a:ext uri="{FF2B5EF4-FFF2-40B4-BE49-F238E27FC236}">
                <a16:creationId xmlns:a16="http://schemas.microsoft.com/office/drawing/2014/main" id="{6114E822-BCD2-EDCF-9B3E-9467CBBE7C59}"/>
              </a:ext>
            </a:extLst>
          </p:cNvPr>
          <p:cNvSpPr txBox="1"/>
          <p:nvPr/>
        </p:nvSpPr>
        <p:spPr>
          <a:xfrm flipH="1">
            <a:off x="5504509" y="1301897"/>
            <a:ext cx="45719" cy="2308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500" b="1" i="0" u="none" strike="noStrike" baseline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C5B66B9-82FD-1216-EBCA-8E6DA277DF01}"/>
              </a:ext>
            </a:extLst>
          </p:cNvPr>
          <p:cNvGrpSpPr/>
          <p:nvPr/>
        </p:nvGrpSpPr>
        <p:grpSpPr>
          <a:xfrm>
            <a:off x="-26406" y="2556734"/>
            <a:ext cx="4254569" cy="1079483"/>
            <a:chOff x="0" y="2985846"/>
            <a:chExt cx="4254569" cy="1079483"/>
          </a:xfrm>
        </p:grpSpPr>
        <p:grpSp>
          <p:nvGrpSpPr>
            <p:cNvPr id="27" name="Group 28">
              <a:extLst>
                <a:ext uri="{FF2B5EF4-FFF2-40B4-BE49-F238E27FC236}">
                  <a16:creationId xmlns:a16="http://schemas.microsoft.com/office/drawing/2014/main" id="{DAE40591-CF81-76F2-E153-040DB44B9331}"/>
                </a:ext>
              </a:extLst>
            </p:cNvPr>
            <p:cNvGrpSpPr/>
            <p:nvPr/>
          </p:nvGrpSpPr>
          <p:grpSpPr>
            <a:xfrm>
              <a:off x="0" y="2985846"/>
              <a:ext cx="4254569" cy="930088"/>
              <a:chOff x="0" y="-38100"/>
              <a:chExt cx="4387017" cy="959043"/>
            </a:xfrm>
          </p:grpSpPr>
          <p:sp>
            <p:nvSpPr>
              <p:cNvPr id="38" name="Freeform 29">
                <a:extLst>
                  <a:ext uri="{FF2B5EF4-FFF2-40B4-BE49-F238E27FC236}">
                    <a16:creationId xmlns:a16="http://schemas.microsoft.com/office/drawing/2014/main" id="{D90728E9-11D8-BEA0-7F1A-11B6B0F3ED79}"/>
                  </a:ext>
                </a:extLst>
              </p:cNvPr>
              <p:cNvSpPr/>
              <p:nvPr/>
            </p:nvSpPr>
            <p:spPr>
              <a:xfrm>
                <a:off x="31175" y="514543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45" name="TextBox 30">
                <a:extLst>
                  <a:ext uri="{FF2B5EF4-FFF2-40B4-BE49-F238E27FC236}">
                    <a16:creationId xmlns:a16="http://schemas.microsoft.com/office/drawing/2014/main" id="{FE910E71-87D6-9545-1B9A-94640B304A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37" name="TextBox 44">
              <a:extLst>
                <a:ext uri="{FF2B5EF4-FFF2-40B4-BE49-F238E27FC236}">
                  <a16:creationId xmlns:a16="http://schemas.microsoft.com/office/drawing/2014/main" id="{32A87B5E-B531-4A22-FAB1-2256D2CE91D2}"/>
                </a:ext>
              </a:extLst>
            </p:cNvPr>
            <p:cNvSpPr txBox="1"/>
            <p:nvPr/>
          </p:nvSpPr>
          <p:spPr>
            <a:xfrm>
              <a:off x="140947" y="3598085"/>
              <a:ext cx="4107903" cy="46724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dirty="0">
                  <a:solidFill>
                    <a:schemeClr val="bg1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Pay Lens: </a:t>
              </a:r>
              <a:r>
                <a:rPr lang="en-US" sz="1400" b="1" i="0" u="none" strike="noStrike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visualizing salary truth with AI &amp; BI </a:t>
              </a:r>
              <a:r>
                <a:rPr lang="en-US" sz="1400" b="1" dirty="0">
                  <a:solidFill>
                    <a:schemeClr val="bg1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 </a:t>
              </a:r>
            </a:p>
            <a:p>
              <a:pPr>
                <a:lnSpc>
                  <a:spcPts val="1943"/>
                </a:lnSpc>
              </a:pPr>
              <a:endParaRPr lang="en-US" sz="1400" b="1" spc="583" dirty="0">
                <a:solidFill>
                  <a:srgbClr val="FFFFFF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Outline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Abstract of the Project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Problem Statement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Proposed Solution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System Architecture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Live Demo of the Project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Embedded Video of Project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IN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Conclusion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5002346" cy="370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- Payroll systems often lack transparency, causing confusion in salary, overtime, deductions, &amp; benchmarking.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- To preprocess payroll data taking reference from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Tools - Excel for data cleaning and calculations, Power BI was used for visualization, copilot to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summary and business report, chatbot for transparency.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– interactive dashboard, structured dataset, easy to use chatbot bridging all the gaps.  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Solution - An AI- and BI-based payroll transparency system can provide clear and explainable salary breakdowns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2021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Salary breakdown, overtime payment compliance, equity benchmark.  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solidFill>
                  <a:srgbClr val="27251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roblem is significant because poor payroll transparency can cause fairness issues, legal risks, employee distrust, and salary disputes.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solidFill>
                  <a:srgbClr val="27251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Affected user include HR, blue collar and gig economy, Management. 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1774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&amp; boundaries 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Focus: Payroll transparency, pay equity benchmarking, compliance verification using Excel, Power BI, Copilot, and Chatbot.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Excludes: Real-time integrations &amp; advanced ML models.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33358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Proposed Solution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41615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digital payroll solution is proposed to enhance compensation transparency, automate discrepancy detection, support compliance monitoring, and improve employee access to payroll information.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Proposed Solution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2"/>
            <a:ext cx="4416154" cy="37581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solve the problem of data complexity and automation with formula based.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Dashboards -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 pay equity, compliance alerts, and departmental comparison. Assist business taking analytical decisions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Copilot AI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Detect anomalies, flag statutory compliance issues, simplify policy communication, create summary and business report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Chatbot Prototype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Employee-facing tool for salary breakdowns, overtime checks, benchmark analysis and policy updates.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15441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A diagram of process automation&#10;&#10;AI-generated content may be incorrect.">
            <a:extLst>
              <a:ext uri="{FF2B5EF4-FFF2-40B4-BE49-F238E27FC236}">
                <a16:creationId xmlns:a16="http://schemas.microsoft.com/office/drawing/2014/main" id="{389ECA45-6078-17FC-FB1D-D022E4723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704" y="1220374"/>
            <a:ext cx="5607461" cy="3572116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62424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06908" y="3066715"/>
            <a:ext cx="2514600" cy="1957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.  </a:t>
            </a:r>
          </a:p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27832" y="2279758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06379" y="258273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825282"/>
            <a:ext cx="2514600" cy="1767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. 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77574" y="2580376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CE4515-2238-0A71-B462-E20BA6CC0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634" y="3123641"/>
            <a:ext cx="2924309" cy="16449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B92A511-8756-72A8-6EFF-62B31D926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02" y="3115792"/>
            <a:ext cx="2793583" cy="16527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7E55DB-EAD6-A4AF-9554-5C2D748E19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6208" y="3115792"/>
            <a:ext cx="2747410" cy="16527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92834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777240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[https://your-project-demo-link.com]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1987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integrates Excel, Power BI, Copilot AI, and chatbot technology to improve payroll transparency and compliance. It delivers clear salary insights, reduces disputes, and supports scalable AI-driven payroll management</a:t>
            </a:r>
            <a:r>
              <a:rPr lang="en-US" sz="1600" b="0" i="0" dirty="0">
                <a:solidFill>
                  <a:srgbClr val="27251E"/>
                </a:solidFill>
                <a:effectLst/>
                <a:latin typeface="pplxSerif"/>
              </a:rPr>
              <a:t>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8387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achieved –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an Excel with standardized structure and automated financial calculation.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Interactive power BI dashboard with Dax measure.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copilot agent to prepare report, summary, policy update, discrepancy alerts.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enabled chatbot to simplify and explain the payroll structure, compliance fulfilled or not, policy explanation.  </a:t>
            </a: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10777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Future Scope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2776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Integration</a:t>
            </a:r>
            <a:endParaRPr lang="en-US" dirty="0">
              <a:solidFill>
                <a:srgbClr val="1A1A2E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Analytics </a:t>
            </a:r>
            <a:endParaRPr lang="en-US" dirty="0">
              <a:solidFill>
                <a:srgbClr val="1A1A2E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 Interface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Support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Benchmarking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solution to SMEs, startups, and educational institutions for payroll transparency.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through Macros and VBA and power Query enabled.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AICW Fellowship  |  Student Project Presentation 2026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</a:t>
            </a:r>
            <a:r>
              <a:rPr lang="en-US" sz="11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LinkedIn  |   </a:t>
            </a:r>
            <a:r>
              <a:rPr lang="en-US" sz="1100" dirty="0" err="1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Edunet</a:t>
            </a:r>
            <a:r>
              <a:rPr lang="en-US" sz="11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Foundation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Times New Roman" panose="02020603050405020304" pitchFamily="18" charset="0"/>
                <a:ea typeface="Aileron Ultra-Bold"/>
                <a:cs typeface="Times New Roman" panose="02020603050405020304" pitchFamily="18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553</Words>
  <Application>Microsoft Office PowerPoint</Application>
  <PresentationFormat>On-screen Show (16:9)</PresentationFormat>
  <Paragraphs>87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Lato</vt:lpstr>
      <vt:lpstr>pplxSerif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sneha khandelwal</cp:lastModifiedBy>
  <cp:revision>38</cp:revision>
  <dcterms:created xsi:type="dcterms:W3CDTF">2026-02-18T09:17:23Z</dcterms:created>
  <dcterms:modified xsi:type="dcterms:W3CDTF">2026-04-18T20:52:35Z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