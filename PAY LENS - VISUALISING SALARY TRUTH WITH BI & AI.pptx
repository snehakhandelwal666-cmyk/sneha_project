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7" r:id="rId3"/>
    <p:sldId id="258" r:id="rId4"/>
    <p:sldId id="259" r:id="rId5"/>
    <p:sldId id="269" r:id="rId6"/>
    <p:sldId id="260" r:id="rId7"/>
    <p:sldId id="271" r:id="rId8"/>
    <p:sldId id="272" r:id="rId9"/>
    <p:sldId id="262" r:id="rId10"/>
    <p:sldId id="263" r:id="rId11"/>
    <p:sldId id="273" r:id="rId12"/>
    <p:sldId id="264" r:id="rId13"/>
    <p:sldId id="265" r:id="rId14"/>
    <p:sldId id="266" r:id="rId15"/>
  </p:sldIdLst>
  <p:sldSz cx="9144000" cy="5143500" type="screen16x9"/>
  <p:notesSz cx="5143500" cy="9144000"/>
  <p:custDataLst>
    <p:tags r:id="rId1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38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96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32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powerbi.com/reportEmbed?reportId=1a98f1ac-1cd1-4e94-880f-00e0484eec27&amp;autoAuth=true&amp;ctid=aed43286-0f66-47d6-942b-d31a4b8addca" TargetMode="External"/><Relationship Id="rId3" Type="http://schemas.openxmlformats.org/officeDocument/2006/relationships/notesSlide" Target="../notesSlides/notesSlide10.xml"/><Relationship Id="rId7" Type="http://schemas.openxmlformats.org/officeDocument/2006/relationships/hyperlink" Target="https://copilotstudio.microsoft.com/environments/Default-aed43286-0f66-47d6-942b-d31a4b8addca/bots/2a02028c-8d2f-f111-88b3-000d3af2544c/adaptive/de8fc8cd-067d-4007-b619-a8b16e728c90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hyperlink" Target="https://copilotstudio.microsoft.com/environments/Default-aed43286-0f66-47d6-942b-d31a4b8addca/bots/2a02028c-8d2f-f111-88b3-000d3af2544c/overview" TargetMode="External"/><Relationship Id="rId5" Type="http://schemas.openxmlformats.org/officeDocument/2006/relationships/hyperlink" Target="https://happy-sand-03668880f.7.azurestaticapps.net/" TargetMode="External"/><Relationship Id="rId4" Type="http://schemas.openxmlformats.org/officeDocument/2006/relationships/hyperlink" Target="https://snehafp-f6bjfwe9h8ebbjh5.canadacentral-01.azurewebsites.net/" TargetMode="External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306056" y="4321559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302779" y="4471625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Sneha khandelwal 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1884463" y="4299730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4118699" y="4336419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4126286" y="4489743"/>
            <a:ext cx="2539417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Snehakhandelwal666@gmail.com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3644651" y="4304027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394047" y="4279537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R. </a:t>
              </a: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20446" y="4282967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68461" y="3462539"/>
            <a:ext cx="544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</a:t>
            </a:r>
            <a:r>
              <a:rPr lang="en-IN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ay Lens – visualising salary truth by AI &amp; BI</a:t>
            </a: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IN" sz="1800" dirty="0"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39" y="884107"/>
            <a:ext cx="6170053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ea typeface="Open Sans" panose="020B0606030504020204" pitchFamily="34" charset="0"/>
                <a:cs typeface="Arial" panose="020B0604020202020204" pitchFamily="34" charset="0"/>
              </a:rPr>
              <a:t>Problem - Complexity of Payro</a:t>
            </a:r>
            <a:r>
              <a:rPr lang="en-US" dirty="0">
                <a:ea typeface="Open Sans" panose="020B0606030504020204" pitchFamily="34" charset="0"/>
                <a:cs typeface="Arial" panose="020B0604020202020204" pitchFamily="34" charset="0"/>
              </a:rPr>
              <a:t>ll system, lack of clarity, overtime compliance &amp; benchmarking</a:t>
            </a:r>
            <a:r>
              <a:rPr lang="en-US" sz="1800" dirty="0">
                <a:solidFill>
                  <a:schemeClr val="tx1"/>
                </a:solidFill>
                <a:effectLst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P</a:t>
            </a:r>
            <a:r>
              <a:rPr lang="en-US" sz="1800" dirty="0">
                <a:ea typeface="+mn-lt"/>
                <a:cs typeface="Arial" panose="020B0604020202020204" pitchFamily="34" charset="0"/>
              </a:rPr>
              <a:t>urpose - Building digital </a:t>
            </a:r>
            <a:r>
              <a:rPr lang="en-US" dirty="0">
                <a:ea typeface="+mn-lt"/>
                <a:cs typeface="Arial" panose="020B0604020202020204" pitchFamily="34" charset="0"/>
              </a:rPr>
              <a:t>system combining tools, bridging gaps</a:t>
            </a:r>
            <a:r>
              <a:rPr lang="en-US" sz="1800" dirty="0">
                <a:ea typeface="+mn-lt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Tools – excel, power BI, copilot studio, AI assistant, </a:t>
            </a:r>
            <a:r>
              <a:rPr lang="en-US" dirty="0" err="1">
                <a:ea typeface="+mn-lt"/>
                <a:cs typeface="Arial" panose="020B0604020202020204" pitchFamily="34" charset="0"/>
              </a:rPr>
              <a:t>streamlit</a:t>
            </a:r>
            <a:r>
              <a:rPr lang="en-US" dirty="0">
                <a:ea typeface="+mn-lt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Expected – structured dataset with AI&amp; BI augmented framework</a:t>
            </a:r>
            <a:r>
              <a:rPr lang="en-US" sz="1800" dirty="0">
                <a:ea typeface="+mn-lt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Solving problem for employees and employer</a:t>
            </a:r>
            <a:r>
              <a:rPr lang="en-US" sz="1800" dirty="0">
                <a:ea typeface="+mn-lt"/>
                <a:cs typeface="Arial" panose="020B0604020202020204" pitchFamily="34" charset="0"/>
              </a:rPr>
              <a:t>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984608" y="1409420"/>
            <a:ext cx="1921177" cy="2324659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258" y="974064"/>
            <a:ext cx="3470502" cy="3470502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39" y="1082800"/>
            <a:ext cx="5136077" cy="377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Information asymmetry.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Ensuring overtime compliance monitoring.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Equity benchmarking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dirty="0"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Significant as poor payroll transparency cause fairness issue, legal risk, employee distrust, salary disputes.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Affected user – HR, Blue collar &amp; Gig Workers, Management.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477" y="1164804"/>
            <a:ext cx="3217283" cy="32172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5438532" cy="399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Limitation of existing tools: </a:t>
            </a: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Underutilized AI skills.</a:t>
            </a: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Benchmarking often outsourced.</a:t>
            </a:r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Scope :</a:t>
            </a:r>
          </a:p>
          <a:p>
            <a:pPr marL="685800" lvl="1" indent="-2286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solidFill>
                  <a:srgbClr val="000000"/>
                </a:solidFill>
              </a:rPr>
              <a:t>P</a:t>
            </a:r>
            <a:r>
              <a:rPr lang="en-US" i="0" u="none" strike="noStrike" baseline="0" dirty="0">
                <a:solidFill>
                  <a:srgbClr val="000000"/>
                </a:solidFill>
              </a:rPr>
              <a:t>ayroll transparency, pay equity benchmarking, overtime compliance verification, and financial literacy for employees.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 </a:t>
            </a:r>
            <a:r>
              <a:rPr lang="en-US" i="0" u="none" strike="noStrike" baseline="0" dirty="0">
                <a:solidFill>
                  <a:srgbClr val="000000"/>
                </a:solidFill>
                <a:ea typeface="+mn-lt"/>
                <a:cs typeface="Arial" panose="020B0604020202020204" pitchFamily="34" charset="0"/>
              </a:rPr>
              <a:t>Limitation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solidFill>
                  <a:srgbClr val="000000"/>
                </a:solidFill>
                <a:ea typeface="+mn-lt"/>
                <a:cs typeface="Arial" panose="020B0604020202020204" pitchFamily="34" charset="0"/>
              </a:rPr>
              <a:t>Real – time integration &amp; advanced ML Models</a:t>
            </a:r>
            <a:endParaRPr lang="en-US" dirty="0">
              <a:ea typeface="+mn-lt"/>
              <a:cs typeface="Arial" panose="020B0604020202020204" pitchFamily="34" charset="0"/>
            </a:endParaRPr>
          </a:p>
          <a:p>
            <a:pPr lvl="1">
              <a:spcAft>
                <a:spcPts val="800"/>
              </a:spcAft>
              <a:tabLst>
                <a:tab pos="4229100" algn="ctr"/>
              </a:tabLst>
            </a:pPr>
            <a:endParaRPr lang="en-US" b="1" i="0" u="none" strike="noStrike" baseline="0" dirty="0">
              <a:solidFill>
                <a:srgbClr val="000000"/>
              </a:solidFill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854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A digital Payroll solution, PAY-LENS proposed to enhance compensation transparency, automate discrepancy detection, compliance monitoring, employee accessibility. 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759" y="1082780"/>
            <a:ext cx="4017755" cy="344379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5009222" cy="3882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 - structuring solves complexity.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Power BI – analytical modelling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Copilot – assistant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Agent &amp; chatbot – employee facing tool for communication.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Employee and Employer friendly.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Extension of Web application using </a:t>
            </a:r>
            <a:r>
              <a:rPr lang="en-US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streamlit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2443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39458BD4-2667-B44D-FBA3-2913D15F69A7}"/>
              </a:ext>
            </a:extLst>
          </p:cNvPr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09F65-47FD-C027-04F8-7B06CEAA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58" y="1137223"/>
            <a:ext cx="7119998" cy="323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73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6D1061-2E58-6FE5-0F60-7216BD1A8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9" y="3196062"/>
            <a:ext cx="2793583" cy="16527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667B80-7B50-E4A7-E56D-7C0132FA9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634" y="3123641"/>
            <a:ext cx="2924309" cy="1644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955D9E-940B-3E34-88C0-310BFA39A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019" y="3123641"/>
            <a:ext cx="2747410" cy="16527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799"/>
            <a:ext cx="8412480" cy="100232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7223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6558358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IN" b="0" i="0" u="none" strike="noStrike" baseline="0" dirty="0">
                <a:solidFill>
                  <a:srgbClr val="0462C1"/>
                </a:solidFill>
                <a:latin typeface="Times New Roman" panose="02020603050405020304" pitchFamily="18" charset="0"/>
              </a:rPr>
              <a:t>https://drive.google.com/file/d/1VPKu_8jVQDIYuchmSw_D6hoB72iISXag/view?usp=sharing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All links 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6247179" cy="3446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Web application - </a:t>
            </a:r>
            <a:r>
              <a:rPr lang="en-IN" sz="1500" dirty="0">
                <a:hlinkClick r:id="rId4"/>
              </a:rPr>
              <a:t>Pay Lens AI</a:t>
            </a:r>
            <a:r>
              <a:rPr lang="en-US" sz="1500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Azure portal – </a:t>
            </a:r>
            <a:r>
              <a:rPr lang="en-US" sz="1500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  <a:hlinkClick r:id="rId5"/>
              </a:rPr>
              <a:t>https://happy-sand-03668880f.7.azurestaticapps.net</a:t>
            </a:r>
            <a:endParaRPr lang="en-US" sz="1500" dirty="0">
              <a:solidFill>
                <a:srgbClr val="1A1A2E"/>
              </a:solidFill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Agent - </a:t>
            </a:r>
            <a:r>
              <a:rPr lang="en-IN" sz="15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Overview - pay lens _ GPT | Microsoft Copilot Studio</a:t>
            </a:r>
            <a:endParaRPr lang="en-US" sz="1500" u="sng" dirty="0">
              <a:solidFill>
                <a:srgbClr val="1A1A2E"/>
              </a:solidFill>
              <a:effectLst/>
              <a:latin typeface="Aptos" panose="020B00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Aptos" panose="020B0004020202020204" pitchFamily="34" charset="0"/>
                <a:ea typeface="Calibri" pitchFamily="34" charset="-122"/>
                <a:cs typeface="Arial" panose="020B0604020202020204" pitchFamily="34" charset="0"/>
              </a:rPr>
              <a:t>Chatbot - </a:t>
            </a:r>
            <a:r>
              <a:rPr lang="en-IN" sz="15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Topics - pay lens _ GPT | Microsoft Copilot Studio</a:t>
            </a:r>
            <a:endParaRPr lang="en-US" sz="1500" u="sng" dirty="0">
              <a:solidFill>
                <a:srgbClr val="1A1A2E"/>
              </a:solidFill>
              <a:latin typeface="Aptos" panose="020B00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Aptos" panose="020B0004020202020204" pitchFamily="34" charset="0"/>
                <a:ea typeface="Calibri" pitchFamily="34" charset="-122"/>
                <a:cs typeface="Arial" panose="020B0604020202020204" pitchFamily="34" charset="0"/>
              </a:rPr>
              <a:t>Dashboard -</a:t>
            </a:r>
            <a:r>
              <a:rPr lang="en-US" u="sng" dirty="0">
                <a:solidFill>
                  <a:srgbClr val="1A1A2E"/>
                </a:solidFill>
                <a:latin typeface="Aptos" panose="020B00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8"/>
              </a:rPr>
              <a:t>https://app.powerbi.com/reportEmbed?reportId=1a98f1ac-1cd1-4e94-880f-00e0484eec27&amp;autoAuth=true&amp;ctid=aed43286-0f66-47d6-942b-d31a4b8addca</a:t>
            </a:r>
            <a:endParaRPr lang="en-US" sz="1500" dirty="0">
              <a:solidFill>
                <a:srgbClr val="1A1A2E"/>
              </a:solidFill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solidFill>
                <a:srgbClr val="1A1A2E"/>
              </a:solidFill>
              <a:ea typeface="Calibri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1A1A2E"/>
              </a:solidFill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6542304" y="1475845"/>
            <a:ext cx="2382621" cy="21918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021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721859" cy="3446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Intelligent Payroll Data Infrastructure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Automated Legal Alerts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Quantitative Pay Equity Framework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Financial Transparency for workforce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Decision – Intelligent Dashboard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Bridging transparency – skill - Analytical Gap.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Extension of live pay correction simulator 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515236" y="1050976"/>
            <a:ext cx="3261979" cy="30007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6" y="1082104"/>
            <a:ext cx="4969259" cy="37149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Extend solution to SMEs, startups, and educational institutions for payroll transparency.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Excel through Macros and VBA and power Query enabled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cs typeface="Times New Roman" panose="02020603050405020304" pitchFamily="18" charset="0"/>
              </a:rPr>
              <a:t>Real-Time Data Integration</a:t>
            </a:r>
            <a:endParaRPr lang="en-US" dirty="0">
              <a:solidFill>
                <a:srgbClr val="1A1A2E"/>
              </a:solidFill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Predictive Analytics </a:t>
            </a:r>
            <a:endParaRPr lang="en-US" dirty="0">
              <a:solidFill>
                <a:srgbClr val="1A1A2E"/>
              </a:solidFill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Mobile App Interface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Multilingual Support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Automated Benchmarking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108" y="1647311"/>
            <a:ext cx="3423645" cy="256773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</a:t>
            </a:r>
            <a:r>
              <a:rPr lang="en-US" sz="1100" dirty="0">
                <a:ea typeface="Calibri"/>
                <a:cs typeface="Arial" panose="020B0604020202020204" pitchFamily="34" charset="0"/>
              </a:rPr>
              <a:t>LinkedIn  |   </a:t>
            </a:r>
            <a:r>
              <a:rPr lang="en-US" sz="1100" dirty="0" err="1"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9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ea typeface="Lato" panose="020F0502020204030203" pitchFamily="34" charset="0"/>
                <a:cs typeface="Lato" panose="020F0502020204030203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499</Words>
  <Application>Microsoft Office PowerPoint</Application>
  <PresentationFormat>On-screen Show (16:9)</PresentationFormat>
  <Paragraphs>97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Lato</vt:lpstr>
      <vt:lpstr>Open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sneha khandelwal</cp:lastModifiedBy>
  <cp:revision>44</cp:revision>
  <dcterms:created xsi:type="dcterms:W3CDTF">2026-02-18T09:17:23Z</dcterms:created>
  <dcterms:modified xsi:type="dcterms:W3CDTF">2026-04-24T08:56:21Z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