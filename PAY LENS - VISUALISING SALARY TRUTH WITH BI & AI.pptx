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tags/tag16.xml" ContentType="application/vnd.openxmlformats-officedocument.presentationml.tags+xml"/>
  <Override PartName="/ppt/notesSlides/notesSlide12.xml" ContentType="application/vnd.openxmlformats-officedocument.presentationml.notesSlide+xml"/>
  <Override PartName="/ppt/tags/tag17.xml" ContentType="application/vnd.openxmlformats-officedocument.presentationml.tags+xml"/>
  <Override PartName="/ppt/notesSlides/notesSlide13.xml" ContentType="application/vnd.openxmlformats-officedocument.presentationml.notesSlide+xml"/>
  <Override PartName="/ppt/tags/tag18.xml" ContentType="application/vnd.openxmlformats-officedocument.presentationml.tags+xml"/>
  <Override PartName="/ppt/notesSlides/notesSlide14.xml" ContentType="application/vnd.openxmlformats-officedocument.presentationml.notesSlide+xml"/>
  <Override PartName="/ppt/tags/tag19.xml" ContentType="application/vnd.openxmlformats-officedocument.presentationml.tags+xml"/>
  <Override PartName="/ppt/notesSlides/notesSlide15.xml" ContentType="application/vnd.openxmlformats-officedocument.presentationml.notesSlide+xml"/>
  <Override PartName="/ppt/tags/tag20.xml" ContentType="application/vnd.openxmlformats-officedocument.presentationml.tags+xml"/>
  <Override PartName="/ppt/notesSlides/notesSlide16.xml" ContentType="application/vnd.openxmlformats-officedocument.presentationml.notesSlide+xml"/>
  <Override PartName="/ppt/tags/tag21.xml" ContentType="application/vnd.openxmlformats-officedocument.presentationml.tags+xml"/>
  <Override PartName="/ppt/notesSlides/notesSlide17.xml" ContentType="application/vnd.openxmlformats-officedocument.presentationml.notesSlide+xml"/>
  <Override PartName="/ppt/tags/tag22.xml" ContentType="application/vnd.openxmlformats-officedocument.presentationml.tags+xml"/>
  <Override PartName="/ppt/notesSlides/notesSlide18.xml" ContentType="application/vnd.openxmlformats-officedocument.presentationml.notesSlide+xml"/>
  <Override PartName="/ppt/tags/tag23.xml" ContentType="application/vnd.openxmlformats-officedocument.presentationml.tags+xml"/>
  <Override PartName="/ppt/notesSlides/notesSlide19.xml" ContentType="application/vnd.openxmlformats-officedocument.presentationml.notesSlide+xml"/>
  <Override PartName="/ppt/tags/tag24.xml" ContentType="application/vnd.openxmlformats-officedocument.presentationml.tags+xml"/>
  <Override PartName="/ppt/notesSlides/notesSlide20.xml" ContentType="application/vnd.openxmlformats-officedocument.presentationml.notesSlide+xml"/>
  <Override PartName="/ppt/tags/tag25.xml" ContentType="application/vnd.openxmlformats-officedocument.presentationml.tags+xml"/>
  <Override PartName="/ppt/notesSlides/notesSlide21.xml" ContentType="application/vnd.openxmlformats-officedocument.presentationml.notesSlide+xml"/>
  <Override PartName="/ppt/tags/tag26.xml" ContentType="application/vnd.openxmlformats-officedocument.presentationml.tags+xml"/>
  <Override PartName="/ppt/notesSlides/notesSlide2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68" r:id="rId2"/>
    <p:sldId id="257" r:id="rId3"/>
    <p:sldId id="258" r:id="rId4"/>
    <p:sldId id="274" r:id="rId5"/>
    <p:sldId id="259" r:id="rId6"/>
    <p:sldId id="276" r:id="rId7"/>
    <p:sldId id="277" r:id="rId8"/>
    <p:sldId id="270" r:id="rId9"/>
    <p:sldId id="271" r:id="rId10"/>
    <p:sldId id="272" r:id="rId11"/>
    <p:sldId id="260" r:id="rId12"/>
    <p:sldId id="280" r:id="rId13"/>
    <p:sldId id="278" r:id="rId14"/>
    <p:sldId id="273" r:id="rId15"/>
    <p:sldId id="261" r:id="rId16"/>
    <p:sldId id="262" r:id="rId17"/>
    <p:sldId id="263" r:id="rId18"/>
    <p:sldId id="264" r:id="rId19"/>
    <p:sldId id="279" r:id="rId20"/>
    <p:sldId id="265" r:id="rId21"/>
    <p:sldId id="275" r:id="rId22"/>
    <p:sldId id="266" r:id="rId23"/>
  </p:sldIdLst>
  <p:sldSz cx="9144000" cy="5143500" type="screen16x9"/>
  <p:notesSz cx="5143500" cy="9144000"/>
  <p:custDataLst>
    <p:tags r:id="rId25"/>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client id="{DDC0B4EE-2D5D-447B-AE11-6BA75CAE74F0}" v="57" dt="2026-02-19T11:04:26.3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101"/>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3137097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836090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43331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4950955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45218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5321871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0006050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1653370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553852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0922557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8262158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5" Type="http://schemas.openxmlformats.org/officeDocument/2006/relationships/image" Target="../media/image11.sv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5" Type="http://schemas.openxmlformats.org/officeDocument/2006/relationships/image" Target="../media/image11.sv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7.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8.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9.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20.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ags" Target="../tags/tag21.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tags" Target="../tags/tag22.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tags" Target="../tags/tag23.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ags" Target="../tags/tag24.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ags" Target="../tags/tag25.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ags" Target="../tags/tag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87458" y="451426"/>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5317" y="3072243"/>
            <a:ext cx="4276134" cy="431080"/>
            <a:chOff x="0" y="2985846"/>
            <a:chExt cx="4276134"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54979" y="3806607"/>
            <a:ext cx="1633432"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Sneha khandelwal </a:t>
            </a: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6"/>
          <a:srcRect l="26757" t="2453" r="27842" b="53701"/>
          <a:stretch>
            <a:fillRect/>
          </a:stretch>
        </p:blipFill>
        <p:spPr>
          <a:xfrm>
            <a:off x="429808"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272871" cy="48391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snehakhandelwal666@gmail.com</a:t>
            </a: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6"/>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389019"/>
            <a:chOff x="3139699" y="4295282"/>
            <a:chExt cx="2272871" cy="38901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R. </a:t>
              </a:r>
              <a:r>
                <a:rPr lang="en-US" sz="1200" b="1" dirty="0" err="1">
                  <a:solidFill>
                    <a:srgbClr val="0D358D"/>
                  </a:solidFill>
                  <a:latin typeface="Arial" panose="020B0604020202020204" pitchFamily="34" charset="0"/>
                  <a:ea typeface="Aileron Bold"/>
                  <a:cs typeface="Arial" panose="020B0604020202020204" pitchFamily="34" charset="0"/>
                  <a:sym typeface="Aileron Bold"/>
                </a:rPr>
                <a:t>Umamaheshwari</a:t>
              </a:r>
              <a:r>
                <a:rPr lang="en-US" sz="1200" b="1" dirty="0">
                  <a:solidFill>
                    <a:srgbClr val="0D358D"/>
                  </a:solidFill>
                  <a:latin typeface="Arial" panose="020B0604020202020204" pitchFamily="34" charset="0"/>
                  <a:ea typeface="Aileron Bold"/>
                  <a:cs typeface="Arial" panose="020B0604020202020204" pitchFamily="34" charset="0"/>
                  <a:sym typeface="Aileron Bold"/>
                </a:rPr>
                <a:t> </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7"/>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595271" y="566321"/>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8"/>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9"/>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10"/>
          <a:srcRect b="19729"/>
          <a:stretch>
            <a:fillRect/>
          </a:stretch>
        </p:blipFill>
        <p:spPr>
          <a:xfrm>
            <a:off x="173754" y="773121"/>
            <a:ext cx="3854253" cy="1849530"/>
          </a:xfrm>
          <a:prstGeom prst="rect">
            <a:avLst/>
          </a:prstGeom>
        </p:spPr>
      </p:pic>
      <p:sp>
        <p:nvSpPr>
          <p:cNvPr id="52" name="TextBox 42">
            <a:extLst>
              <a:ext uri="{FF2B5EF4-FFF2-40B4-BE49-F238E27FC236}">
                <a16:creationId xmlns:a16="http://schemas.microsoft.com/office/drawing/2014/main" id="{6114E822-BCD2-EDCF-9B3E-9467CBBE7C59}"/>
              </a:ext>
            </a:extLst>
          </p:cNvPr>
          <p:cNvSpPr txBox="1"/>
          <p:nvPr/>
        </p:nvSpPr>
        <p:spPr>
          <a:xfrm>
            <a:off x="337540" y="2728957"/>
            <a:ext cx="4153368" cy="230832"/>
          </a:xfrm>
          <a:prstGeom prst="rect">
            <a:avLst/>
          </a:prstGeom>
        </p:spPr>
        <p:txBody>
          <a:bodyPr wrap="square" lIns="0" tIns="0" rIns="0" bIns="0" rtlCol="0" anchor="t">
            <a:spAutoFit/>
          </a:bodyPr>
          <a:lstStyle/>
          <a:p>
            <a:pPr algn="l"/>
            <a:r>
              <a:rPr lang="en-US" sz="1500" b="1" dirty="0">
                <a:solidFill>
                  <a:schemeClr val="accent1">
                    <a:lumMod val="75000"/>
                  </a:schemeClr>
                </a:solidFill>
                <a:latin typeface="Arial" panose="020B0604020202020204" pitchFamily="34" charset="0"/>
                <a:ea typeface="Aileron Bold"/>
                <a:cs typeface="Arial" panose="020B0604020202020204" pitchFamily="34" charset="0"/>
                <a:sym typeface="Aileron Bold"/>
              </a:rPr>
              <a:t>Pay Lens: </a:t>
            </a:r>
            <a:r>
              <a:rPr lang="en-US" sz="1500" b="1" i="0" u="none" strike="noStrike" baseline="0" dirty="0">
                <a:solidFill>
                  <a:schemeClr val="accent1">
                    <a:lumMod val="75000"/>
                  </a:schemeClr>
                </a:solidFill>
                <a:latin typeface="Arial" panose="020B0604020202020204" pitchFamily="34" charset="0"/>
                <a:cs typeface="Arial" panose="020B0604020202020204" pitchFamily="34" charset="0"/>
              </a:rPr>
              <a:t>visualizing salary truth with AI &amp; BI </a:t>
            </a:r>
            <a:r>
              <a:rPr lang="en-US" sz="1500" b="1" dirty="0">
                <a:solidFill>
                  <a:schemeClr val="accent1">
                    <a:lumMod val="75000"/>
                  </a:schemeClr>
                </a:solidFill>
                <a:latin typeface="Arial" panose="020B0604020202020204" pitchFamily="34" charset="0"/>
                <a:ea typeface="Aileron Bold"/>
                <a:cs typeface="Arial" panose="020B0604020202020204" pitchFamily="34" charset="0"/>
                <a:sym typeface="Aileron Bold"/>
              </a:rPr>
              <a:t> </a:t>
            </a:r>
          </a:p>
        </p:txBody>
      </p:sp>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Outline</a:t>
            </a:r>
            <a:endParaRPr lang="en-US" sz="2000" dirty="0">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Abstract of the Project</a:t>
            </a:r>
            <a:endParaRPr lang="en-IN" sz="1800"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endParaRPr>
          </a:p>
          <a:p>
            <a:pPr marL="228600" indent="-228600">
              <a:spcAft>
                <a:spcPts val="800"/>
              </a:spcAft>
              <a:buFont typeface="Arial" panose="020B0604020202020204" pitchFamily="34" charset="0"/>
              <a:buChar char="•"/>
              <a:tabLst>
                <a:tab pos="4229100" algn="ctr"/>
              </a:tabLst>
            </a:pPr>
            <a:r>
              <a:rPr lang="en-US" sz="1800" dirty="0">
                <a:latin typeface="Times New Roman" panose="02020603050405020304" pitchFamily="18" charset="0"/>
                <a:ea typeface="+mn-lt"/>
                <a:cs typeface="Times New Roman" panose="02020603050405020304" pitchFamily="18"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Times New Roman" panose="02020603050405020304" pitchFamily="18" charset="0"/>
                <a:ea typeface="+mn-lt"/>
                <a:cs typeface="Times New Roman" panose="02020603050405020304" pitchFamily="18"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Times New Roman" panose="02020603050405020304" pitchFamily="18" charset="0"/>
                <a:ea typeface="+mn-lt"/>
                <a:cs typeface="Times New Roman" panose="02020603050405020304" pitchFamily="18"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Times New Roman" panose="02020603050405020304" pitchFamily="18" charset="0"/>
                <a:ea typeface="+mn-lt"/>
                <a:cs typeface="Times New Roman" panose="02020603050405020304" pitchFamily="18"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Times New Roman" panose="02020603050405020304" pitchFamily="18" charset="0"/>
                <a:ea typeface="+mn-lt"/>
                <a:cs typeface="Times New Roman" panose="02020603050405020304" pitchFamily="18"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Times New Roman" panose="02020603050405020304" pitchFamily="18" charset="0"/>
                <a:ea typeface="+mn-lt"/>
                <a:cs typeface="Times New Roman" panose="02020603050405020304" pitchFamily="18" charset="0"/>
              </a:rPr>
              <a:t>Conclusion</a:t>
            </a:r>
          </a:p>
          <a:p>
            <a:pPr marL="228600" indent="-228600">
              <a:spcAft>
                <a:spcPts val="800"/>
              </a:spcAft>
              <a:buFont typeface="Arial" panose="020B0604020202020204" pitchFamily="34" charset="0"/>
              <a:buChar char="•"/>
              <a:tabLst>
                <a:tab pos="4229100" algn="ctr"/>
              </a:tabLst>
            </a:pPr>
            <a:r>
              <a:rPr lang="en-US" sz="1800" dirty="0">
                <a:latin typeface="Times New Roman" panose="02020603050405020304" pitchFamily="18" charset="0"/>
                <a:ea typeface="+mn-lt"/>
                <a:cs typeface="Times New Roman" panose="02020603050405020304" pitchFamily="18"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Abstract</a:t>
            </a: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327782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This project, part of the AICW Fellowship Program, addresses challenges in payroll management and compensation transparency.</a:t>
            </a:r>
          </a:p>
          <a:p>
            <a:pPr marL="228600" indent="-228600">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To preprocess payroll data, ensure compliance with statutory requirements (like 2× overtime pay), and provide employees with clear, transparent salary breakdowns.</a:t>
            </a:r>
          </a:p>
          <a:p>
            <a:pPr marL="228600" indent="-228600">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Microsoft Excel for data cleaning, financial calculations.</a:t>
            </a:r>
          </a:p>
          <a:p>
            <a:pPr marL="228600" indent="-228600">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Power BI for interactive dashboards and ratio analysis</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Abstract</a:t>
            </a:r>
            <a:endParaRPr lang="en-US" sz="2000"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3118803"/>
          </a:xfrm>
          <a:prstGeom prst="rect">
            <a:avLst/>
          </a:prstGeom>
          <a:noFill/>
        </p:spPr>
        <p:txBody>
          <a:bodyPr wrap="square">
            <a:spAutoFit/>
          </a:bodyPr>
          <a:lstStyle/>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Interactive dashboard highlighting pay equity, overtime compliance, and departmental costs</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Audit-ready payroll dataset with standardized structures.</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Focus on bridging transparency and skills gaps in payroll analytics.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Enhances employee financial literacy and organizational compliance.</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Demonstrates how AI &amp; BI tools can transform payroll systems into instruments of fairness and trust</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ustDataLst>
      <p:tags r:id="rId1"/>
    </p:custDataLst>
    <p:extLst>
      <p:ext uri="{BB962C8B-B14F-4D97-AF65-F5344CB8AC3E}">
        <p14:creationId xmlns:p14="http://schemas.microsoft.com/office/powerpoint/2010/main" val="3691842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2826415"/>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Core problem </a:t>
            </a:r>
            <a:r>
              <a:rPr lang="en-US" dirty="0">
                <a:latin typeface="Times New Roman" panose="02020603050405020304" pitchFamily="18" charset="0"/>
                <a:cs typeface="Times New Roman" panose="02020603050405020304" pitchFamily="18" charset="0"/>
              </a:rPr>
              <a:t>: </a:t>
            </a:r>
          </a:p>
          <a:p>
            <a:pPr marL="228600" indent="-228600" algn="just">
              <a:spcAft>
                <a:spcPts val="800"/>
              </a:spcAft>
              <a:buFont typeface="Arial" panose="020B0604020202020204" pitchFamily="34" charset="0"/>
              <a:buChar char="•"/>
              <a:tabLst>
                <a:tab pos="4229100" algn="ctr"/>
              </a:tabLst>
            </a:pPr>
            <a:r>
              <a:rPr lang="en-US" sz="1700" b="0" i="0" dirty="0">
                <a:solidFill>
                  <a:srgbClr val="27251E"/>
                </a:solidFill>
                <a:effectLst/>
                <a:latin typeface="Times New Roman" panose="02020603050405020304" pitchFamily="18" charset="0"/>
                <a:cs typeface="Times New Roman" panose="02020603050405020304" pitchFamily="18" charset="0"/>
              </a:rPr>
              <a:t>Organizations handle large volumes of sensitive payroll data, but employees often lack transparent and verifiable access to how wages, overtime, deductions, and in-hand salary are calculated. Disputes arise when attendance, biometric, and manual records do not match, and employees often remain unaware of changes in </a:t>
            </a:r>
            <a:r>
              <a:rPr lang="en-US" sz="1700" b="0" i="0" dirty="0" err="1">
                <a:solidFill>
                  <a:srgbClr val="27251E"/>
                </a:solidFill>
                <a:effectLst/>
                <a:latin typeface="Times New Roman" panose="02020603050405020304" pitchFamily="18" charset="0"/>
                <a:cs typeface="Times New Roman" panose="02020603050405020304" pitchFamily="18" charset="0"/>
              </a:rPr>
              <a:t>labour</a:t>
            </a:r>
            <a:r>
              <a:rPr lang="en-US" sz="1700" b="0" i="0" dirty="0">
                <a:solidFill>
                  <a:srgbClr val="27251E"/>
                </a:solidFill>
                <a:effectLst/>
                <a:latin typeface="Times New Roman" panose="02020603050405020304" pitchFamily="18" charset="0"/>
                <a:cs typeface="Times New Roman" panose="02020603050405020304" pitchFamily="18" charset="0"/>
              </a:rPr>
              <a:t> laws or company payroll policies that affect their compensation.</a:t>
            </a:r>
            <a:endParaRPr lang="en-US" sz="1700" dirty="0">
              <a:latin typeface="Times New Roman" panose="02020603050405020304" pitchFamily="18" charset="0"/>
              <a:cs typeface="Times New Roman" panose="02020603050405020304" pitchFamily="18" charset="0"/>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2682786"/>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Significance of problem</a:t>
            </a:r>
            <a:r>
              <a:rPr lang="en-US" dirty="0">
                <a:latin typeface="Times New Roman" panose="02020603050405020304" pitchFamily="18" charset="0"/>
                <a:cs typeface="Times New Roman" panose="02020603050405020304" pitchFamily="18" charset="0"/>
              </a:rPr>
              <a:t>: </a:t>
            </a:r>
          </a:p>
          <a:p>
            <a:pPr marL="228600" indent="-228600" algn="just">
              <a:spcAft>
                <a:spcPts val="800"/>
              </a:spcAft>
              <a:buFont typeface="Arial" panose="020B0604020202020204" pitchFamily="34" charset="0"/>
              <a:buChar char="•"/>
              <a:tabLst>
                <a:tab pos="4229100" algn="ctr"/>
              </a:tabLst>
            </a:pPr>
            <a:r>
              <a:rPr lang="en-US" sz="1700" b="0" i="0" dirty="0">
                <a:solidFill>
                  <a:srgbClr val="27251E"/>
                </a:solidFill>
                <a:effectLst/>
                <a:latin typeface="Times New Roman" panose="02020603050405020304" pitchFamily="18" charset="0"/>
                <a:cs typeface="Times New Roman" panose="02020603050405020304" pitchFamily="18" charset="0"/>
              </a:rPr>
              <a:t>This problem is important because it affects fairness, legal compliance, employee trust, and financial stability. Poor payroll transparency can lead to overtime disputes, deduction confusion, underpayment concerns, and increased HR workload, making accurate and explainable payroll systems essential.</a:t>
            </a:r>
            <a:endParaRPr lang="en-US" sz="1700" dirty="0">
              <a:latin typeface="Times New Roman" panose="02020603050405020304" pitchFamily="18" charset="0"/>
              <a:cs typeface="Times New Roman" panose="02020603050405020304" pitchFamily="18" charset="0"/>
            </a:endParaRPr>
          </a:p>
          <a:p>
            <a:pPr marL="228600" indent="-228600">
              <a:spcAft>
                <a:spcPts val="800"/>
              </a:spcAft>
              <a:buFont typeface="Arial" panose="020B0604020202020204" pitchFamily="34" charset="0"/>
              <a:buChar char="•"/>
              <a:tabLst>
                <a:tab pos="4229100" algn="ctr"/>
              </a:tabLst>
            </a:pPr>
            <a:endParaRPr lang="en-US" dirty="0">
              <a:solidFill>
                <a:schemeClr val="tx1"/>
              </a:solidFill>
              <a:effectLst/>
              <a:latin typeface="Lato" panose="020F0502020204030203" pitchFamily="34" charset="0"/>
              <a:ea typeface="Times New Roman" panose="02020603050405020304" pitchFamily="18" charset="0"/>
              <a:cs typeface="Arial" panose="020B0604020202020204" pitchFamily="34" charset="0"/>
            </a:endParaRPr>
          </a:p>
        </p:txBody>
      </p:sp>
    </p:spTree>
    <p:custDataLst>
      <p:tags r:id="rId1"/>
    </p:custDataLst>
    <p:extLst>
      <p:ext uri="{BB962C8B-B14F-4D97-AF65-F5344CB8AC3E}">
        <p14:creationId xmlns:p14="http://schemas.microsoft.com/office/powerpoint/2010/main" val="31023136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3600986"/>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Specific Gap addressed </a:t>
            </a:r>
            <a:r>
              <a:rPr lang="en-US" dirty="0">
                <a:latin typeface="Times New Roman" panose="02020603050405020304" pitchFamily="18" charset="0"/>
                <a:cs typeface="Times New Roman" panose="02020603050405020304" pitchFamily="18" charset="0"/>
              </a:rPr>
              <a:t>: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Complexity of payroll data.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Lack of clear tool for employee to bridge transparency gap.</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Most employer lack prompt engineering skills to use required AI tools effectively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Lack of automation in calculating Ratio Analysis &amp; interpretation.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Employers struggle with 2× overtime compliance.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Existing tools focus on calculation only, no equity or clarity.</a:t>
            </a:r>
          </a:p>
        </p:txBody>
      </p:sp>
    </p:spTree>
    <p:custDataLst>
      <p:tags r:id="rId1"/>
    </p:custDataLst>
    <p:extLst>
      <p:ext uri="{BB962C8B-B14F-4D97-AF65-F5344CB8AC3E}">
        <p14:creationId xmlns:p14="http://schemas.microsoft.com/office/powerpoint/2010/main" val="4250437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2339102"/>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IN" b="1" dirty="0">
                <a:latin typeface="Times New Roman" panose="02020603050405020304" pitchFamily="18" charset="0"/>
                <a:cs typeface="Times New Roman" panose="02020603050405020304" pitchFamily="18" charset="0"/>
              </a:rPr>
              <a:t>Affected Users :</a:t>
            </a:r>
          </a:p>
          <a:p>
            <a:pPr marL="228600" indent="-228600" algn="just">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Employees:</a:t>
            </a:r>
            <a:r>
              <a:rPr lang="en-US" dirty="0">
                <a:latin typeface="Times New Roman" panose="02020603050405020304" pitchFamily="18" charset="0"/>
                <a:cs typeface="Times New Roman" panose="02020603050405020304" pitchFamily="18" charset="0"/>
              </a:rPr>
              <a:t> Gig workers, blue-collar staff, interns</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HR Departments:</a:t>
            </a:r>
            <a:r>
              <a:rPr lang="en-US" dirty="0">
                <a:latin typeface="Times New Roman" panose="02020603050405020304" pitchFamily="18" charset="0"/>
                <a:cs typeface="Times New Roman" panose="02020603050405020304" pitchFamily="18" charset="0"/>
              </a:rPr>
              <a:t> Compliance checks, pay equity analysis, turnover costs</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Organizations:</a:t>
            </a:r>
            <a:r>
              <a:rPr lang="en-US" dirty="0">
                <a:latin typeface="Times New Roman" panose="02020603050405020304" pitchFamily="18" charset="0"/>
                <a:cs typeface="Times New Roman" panose="02020603050405020304" pitchFamily="18" charset="0"/>
              </a:rPr>
              <a:t> Reputation risks, reduced productivity, lawsuits</a:t>
            </a:r>
            <a:endParaRPr lang="en-US" dirty="0">
              <a:latin typeface="Times New Roman" panose="02020603050405020304" pitchFamily="18" charset="0"/>
              <a:ea typeface="+mn-lt"/>
              <a:cs typeface="Times New Roman" panose="02020603050405020304" pitchFamily="18" charset="0"/>
            </a:endParaRPr>
          </a:p>
        </p:txBody>
      </p:sp>
    </p:spTree>
    <p:custDataLst>
      <p:tags r:id="rId1"/>
    </p:custDataLst>
    <p:extLst>
      <p:ext uri="{BB962C8B-B14F-4D97-AF65-F5344CB8AC3E}">
        <p14:creationId xmlns:p14="http://schemas.microsoft.com/office/powerpoint/2010/main" val="23339311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3477875"/>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IN" b="1" dirty="0">
                <a:latin typeface="Times New Roman" panose="02020603050405020304" pitchFamily="18" charset="0"/>
                <a:cs typeface="Times New Roman" panose="02020603050405020304" pitchFamily="18" charset="0"/>
              </a:rPr>
              <a:t>Limitation of existing tools</a:t>
            </a: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Payroll systems focus on calculation only, no transparency</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IN" dirty="0">
                <a:latin typeface="Times New Roman" panose="02020603050405020304" pitchFamily="18" charset="0"/>
                <a:cs typeface="Times New Roman" panose="02020603050405020304" pitchFamily="18" charset="0"/>
              </a:rPr>
              <a:t>Manual attendance leads to fails overtime disputes</a:t>
            </a:r>
          </a:p>
          <a:p>
            <a:pPr marL="228600" indent="-228600" algn="just">
              <a:spcAft>
                <a:spcPts val="800"/>
              </a:spcAft>
              <a:buFont typeface="Arial" panose="020B0604020202020204" pitchFamily="34" charset="0"/>
              <a:buChar char="•"/>
              <a:tabLst>
                <a:tab pos="4229100" algn="ctr"/>
              </a:tabLst>
            </a:pPr>
            <a:r>
              <a:rPr lang="en-IN" dirty="0">
                <a:latin typeface="Times New Roman" panose="02020603050405020304" pitchFamily="18" charset="0"/>
                <a:cs typeface="Times New Roman" panose="02020603050405020304" pitchFamily="18" charset="0"/>
              </a:rPr>
              <a:t>Benchmarking = outsourced, not automated</a:t>
            </a: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Policy updates = poorly communicated, often ignored</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AI tools = exist but underutilized</a:t>
            </a:r>
            <a:r>
              <a:rPr lang="en-IN" dirty="0">
                <a:latin typeface="Times New Roman" panose="02020603050405020304" pitchFamily="18" charset="0"/>
                <a:cs typeface="Times New Roman" panose="02020603050405020304" pitchFamily="18" charset="0"/>
              </a:rPr>
              <a:t> </a:t>
            </a:r>
          </a:p>
          <a:p>
            <a:pPr marL="228600" indent="-228600">
              <a:spcAft>
                <a:spcPts val="800"/>
              </a:spcAft>
              <a:buFont typeface="Arial" panose="020B0604020202020204" pitchFamily="34" charset="0"/>
              <a:buChar char="•"/>
              <a:tabLst>
                <a:tab pos="4229100" algn="ctr"/>
              </a:tabLst>
            </a:pPr>
            <a:endParaRPr lang="en-IN" dirty="0"/>
          </a:p>
        </p:txBody>
      </p:sp>
    </p:spTree>
    <p:custDataLst>
      <p:tags r:id="rId1"/>
    </p:custDataLst>
    <p:extLst>
      <p:ext uri="{BB962C8B-B14F-4D97-AF65-F5344CB8AC3E}">
        <p14:creationId xmlns:p14="http://schemas.microsoft.com/office/powerpoint/2010/main" val="42076444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1959511"/>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IN" b="1" dirty="0">
                <a:latin typeface="Times New Roman" panose="02020603050405020304" pitchFamily="18" charset="0"/>
                <a:cs typeface="Times New Roman" panose="02020603050405020304" pitchFamily="18" charset="0"/>
              </a:rPr>
              <a:t>Scope &amp; boundaries </a:t>
            </a: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Focus: Payroll transparency, pay equity benchmarking, compliance verification using Excel, Power BI, Copilot, and Chatbot.</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Excludes: Real-time integrations &amp; advanced ML models. </a:t>
            </a:r>
            <a:endParaRPr lang="en-IN" dirty="0">
              <a:latin typeface="Times New Roman" panose="02020603050405020304" pitchFamily="18" charset="0"/>
              <a:cs typeface="Times New Roman" panose="02020603050405020304" pitchFamily="18" charset="0"/>
            </a:endParaRPr>
          </a:p>
        </p:txBody>
      </p:sp>
    </p:spTree>
    <p:custDataLst>
      <p:tags r:id="rId1"/>
    </p:custDataLst>
    <p:extLst>
      <p:ext uri="{BB962C8B-B14F-4D97-AF65-F5344CB8AC3E}">
        <p14:creationId xmlns:p14="http://schemas.microsoft.com/office/powerpoint/2010/main" val="23333580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Proposed Solution</a:t>
            </a:r>
            <a:endParaRPr lang="en-US" sz="2000" dirty="0">
              <a:latin typeface="Times New Roman" panose="02020603050405020304" pitchFamily="18" charset="0"/>
              <a:cs typeface="Times New Roman" panose="02020603050405020304" pitchFamily="18"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416154" cy="1828800"/>
          </a:xfrm>
          <a:prstGeom prst="rect">
            <a:avLst/>
          </a:prstGeom>
          <a:noFill/>
          <a:ln/>
        </p:spPr>
        <p:txBody>
          <a:bodyPr wrap="square" rtlCol="0" anchor="t"/>
          <a:lstStyle/>
          <a:p>
            <a:pPr marL="0" indent="0" algn="just">
              <a:buNone/>
            </a:pPr>
            <a:r>
              <a:rPr lang="en-US" i="0" dirty="0">
                <a:solidFill>
                  <a:srgbClr val="27251E"/>
                </a:solidFill>
                <a:effectLst/>
                <a:latin typeface="Times New Roman" panose="02020603050405020304" pitchFamily="18" charset="0"/>
                <a:cs typeface="Times New Roman" panose="02020603050405020304" pitchFamily="18" charset="0"/>
              </a:rPr>
              <a:t>An integrated digital payroll solution is proposed to enhance compensation transparency, automate discrepancy detection, support compliance monitoring, and improve employee access to payroll information. </a:t>
            </a:r>
            <a:endParaRPr lang="en-US" dirty="0">
              <a:latin typeface="Times New Roman" panose="02020603050405020304" pitchFamily="18" charset="0"/>
              <a:cs typeface="Times New Roman" panose="02020603050405020304" pitchFamily="18" charset="0"/>
            </a:endParaRPr>
          </a:p>
        </p:txBody>
      </p:sp>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Proposed Solution</a:t>
            </a:r>
            <a:endParaRPr lang="en-US" sz="2000" dirty="0">
              <a:latin typeface="Times New Roman" panose="02020603050405020304" pitchFamily="18" charset="0"/>
              <a:cs typeface="Times New Roman" panose="02020603050405020304" pitchFamily="18"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2"/>
            <a:ext cx="4416154" cy="3758105"/>
          </a:xfrm>
          <a:prstGeom prst="rect">
            <a:avLst/>
          </a:prstGeom>
          <a:noFill/>
          <a:ln/>
        </p:spPr>
        <p:txBody>
          <a:bodyPr wrap="square" rtlCol="0" anchor="t"/>
          <a:lstStyle/>
          <a:p>
            <a:pPr marL="0" indent="0" algn="just">
              <a:buNone/>
            </a:pPr>
            <a:r>
              <a:rPr lang="en-US" b="1" dirty="0">
                <a:latin typeface="Times New Roman" panose="02020603050405020304" pitchFamily="18" charset="0"/>
                <a:cs typeface="Times New Roman" panose="02020603050405020304" pitchFamily="18" charset="0"/>
              </a:rPr>
              <a:t>Excel</a:t>
            </a:r>
            <a:r>
              <a:rPr lang="en-US" dirty="0">
                <a:latin typeface="Times New Roman" panose="02020603050405020304" pitchFamily="18" charset="0"/>
                <a:cs typeface="Times New Roman" panose="02020603050405020304" pitchFamily="18" charset="0"/>
              </a:rPr>
              <a:t> – solve the problem of data complexity and automation with formula based. Clean payroll data, calculate Gross CTC, Net Salary, and Overtime Pay. </a:t>
            </a:r>
          </a:p>
          <a:p>
            <a:pPr marL="0" indent="0" algn="just">
              <a:buNone/>
            </a:pPr>
            <a:endParaRPr lang="en-US" dirty="0">
              <a:latin typeface="Times New Roman" panose="02020603050405020304" pitchFamily="18" charset="0"/>
              <a:cs typeface="Times New Roman" panose="02020603050405020304" pitchFamily="18" charset="0"/>
            </a:endParaRPr>
          </a:p>
          <a:p>
            <a:pPr marL="0" indent="0" algn="just">
              <a:buNone/>
            </a:pPr>
            <a:r>
              <a:rPr lang="en-US" b="1" dirty="0">
                <a:latin typeface="Times New Roman" panose="02020603050405020304" pitchFamily="18" charset="0"/>
                <a:cs typeface="Times New Roman" panose="02020603050405020304" pitchFamily="18" charset="0"/>
              </a:rPr>
              <a:t>Power BI Dashboards - </a:t>
            </a:r>
            <a:r>
              <a:rPr lang="en-US" dirty="0">
                <a:latin typeface="Times New Roman" panose="02020603050405020304" pitchFamily="18" charset="0"/>
                <a:cs typeface="Times New Roman" panose="02020603050405020304" pitchFamily="18" charset="0"/>
              </a:rPr>
              <a:t>Visualize pay equity, compliance alerts, and departmental comparison. Assist business taking analytical decisions</a:t>
            </a:r>
            <a:r>
              <a:rPr lang="en-US">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spTree>
    <p:custDataLst>
      <p:tags r:id="rId1"/>
    </p:custDataLst>
    <p:extLst>
      <p:ext uri="{BB962C8B-B14F-4D97-AF65-F5344CB8AC3E}">
        <p14:creationId xmlns:p14="http://schemas.microsoft.com/office/powerpoint/2010/main" val="34154416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Proposed Solution</a:t>
            </a:r>
            <a:endParaRPr lang="en-US" sz="2000" dirty="0">
              <a:latin typeface="Times New Roman" panose="02020603050405020304" pitchFamily="18" charset="0"/>
              <a:cs typeface="Times New Roman" panose="02020603050405020304" pitchFamily="18"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2"/>
            <a:ext cx="4416154" cy="3758105"/>
          </a:xfrm>
          <a:prstGeom prst="rect">
            <a:avLst/>
          </a:prstGeom>
          <a:noFill/>
          <a:ln/>
        </p:spPr>
        <p:txBody>
          <a:bodyPr wrap="square" rtlCol="0" anchor="t"/>
          <a:lstStyle/>
          <a:p>
            <a:pPr marL="0" indent="0" algn="just">
              <a:buNone/>
            </a:pPr>
            <a:r>
              <a:rPr lang="en-US" b="1" dirty="0">
                <a:latin typeface="Times New Roman" panose="02020603050405020304" pitchFamily="18" charset="0"/>
                <a:cs typeface="Times New Roman" panose="02020603050405020304" pitchFamily="18" charset="0"/>
              </a:rPr>
              <a:t>Copilot AI -</a:t>
            </a:r>
            <a:r>
              <a:rPr lang="en-US" dirty="0">
                <a:latin typeface="Times New Roman" panose="02020603050405020304" pitchFamily="18" charset="0"/>
                <a:cs typeface="Times New Roman" panose="02020603050405020304" pitchFamily="18" charset="0"/>
              </a:rPr>
              <a:t> Detect anomalies, flag statutory compliance issues, simplify policy communication, create summary and business report</a:t>
            </a:r>
          </a:p>
          <a:p>
            <a:pPr marL="0" indent="0" algn="just">
              <a:buNone/>
            </a:pPr>
            <a:r>
              <a:rPr lang="en-US" b="1" dirty="0">
                <a:latin typeface="Times New Roman" panose="02020603050405020304" pitchFamily="18" charset="0"/>
                <a:cs typeface="Times New Roman" panose="02020603050405020304" pitchFamily="18" charset="0"/>
              </a:rPr>
              <a:t>Chatbot Prototype -</a:t>
            </a:r>
            <a:r>
              <a:rPr lang="en-US" dirty="0">
                <a:latin typeface="Times New Roman" panose="02020603050405020304" pitchFamily="18" charset="0"/>
                <a:cs typeface="Times New Roman" panose="02020603050405020304" pitchFamily="18" charset="0"/>
              </a:rPr>
              <a:t> Employee-facing tool for salary breakdowns, overtime checks, benchmark analysis and policy updates.</a:t>
            </a:r>
          </a:p>
        </p:txBody>
      </p:sp>
    </p:spTree>
    <p:custDataLst>
      <p:tags r:id="rId1"/>
    </p:custDataLst>
    <p:extLst>
      <p:ext uri="{BB962C8B-B14F-4D97-AF65-F5344CB8AC3E}">
        <p14:creationId xmlns:p14="http://schemas.microsoft.com/office/powerpoint/2010/main" val="3137302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Proposed Solution</a:t>
            </a:r>
            <a:endParaRPr lang="en-US" sz="2000" dirty="0">
              <a:latin typeface="Times New Roman" panose="02020603050405020304" pitchFamily="18" charset="0"/>
              <a:cs typeface="Times New Roman" panose="02020603050405020304" pitchFamily="18"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416154" cy="3474720"/>
          </a:xfrm>
          <a:prstGeom prst="rect">
            <a:avLst/>
          </a:prstGeom>
          <a:noFill/>
          <a:ln/>
        </p:spPr>
        <p:txBody>
          <a:bodyPr wrap="square" rtlCol="0" anchor="t"/>
          <a:lstStyle/>
          <a:p>
            <a:pPr marL="285750" indent="-28575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Key benefits : </a:t>
            </a:r>
          </a:p>
          <a:p>
            <a:pPr marL="285750" indent="-285750" algn="just">
              <a:buFont typeface="Wingdings" panose="05000000000000000000" pitchFamily="2" charset="2"/>
              <a:buChar char="ü"/>
            </a:pPr>
            <a:r>
              <a:rPr lang="en-IN" dirty="0">
                <a:latin typeface="Times New Roman" panose="02020603050405020304" pitchFamily="18" charset="0"/>
                <a:cs typeface="Times New Roman" panose="02020603050405020304" pitchFamily="18" charset="0"/>
              </a:rPr>
              <a:t>Transparent payroll builds trust</a:t>
            </a:r>
          </a:p>
          <a:p>
            <a:pPr marL="285750" indent="-285750" algn="just">
              <a:buFont typeface="Wingdings" panose="05000000000000000000" pitchFamily="2" charset="2"/>
              <a:buChar char="ü"/>
            </a:pPr>
            <a:r>
              <a:rPr lang="en-IN" dirty="0">
                <a:latin typeface="Times New Roman" panose="02020603050405020304" pitchFamily="18" charset="0"/>
                <a:cs typeface="Times New Roman" panose="02020603050405020304" pitchFamily="18" charset="0"/>
              </a:rPr>
              <a:t>Automated compliance reduces risk</a:t>
            </a:r>
          </a:p>
          <a:p>
            <a:pPr marL="285750" indent="-285750" algn="just">
              <a:buFont typeface="Wingdings" panose="05000000000000000000" pitchFamily="2" charset="2"/>
              <a:buChar char="ü"/>
            </a:pPr>
            <a:r>
              <a:rPr lang="en-IN" dirty="0">
                <a:latin typeface="Times New Roman" panose="02020603050405020304" pitchFamily="18" charset="0"/>
                <a:cs typeface="Times New Roman" panose="02020603050405020304" pitchFamily="18" charset="0"/>
              </a:rPr>
              <a:t>Benchmarking ensures fairness</a:t>
            </a:r>
          </a:p>
          <a:p>
            <a:pPr algn="just"/>
            <a:endParaRPr lang="en-IN" dirty="0"/>
          </a:p>
          <a:p>
            <a:pPr marL="285750" indent="-28575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Differs from existing tools : </a:t>
            </a:r>
          </a:p>
          <a:p>
            <a:pPr marL="285750" indent="-285750" algn="just">
              <a:buFont typeface="Wingdings" panose="05000000000000000000" pitchFamily="2" charset="2"/>
              <a:buChar char="ü"/>
            </a:pPr>
            <a:r>
              <a:rPr lang="en-US" dirty="0">
                <a:effectLst/>
                <a:latin typeface="Times New Roman" panose="02020603050405020304" pitchFamily="18" charset="0"/>
                <a:cs typeface="Times New Roman" panose="02020603050405020304" pitchFamily="18" charset="0"/>
              </a:rPr>
              <a:t>Existing tools: Static record-keeping with limited compliance. </a:t>
            </a:r>
          </a:p>
          <a:p>
            <a:pPr marL="285750" indent="-285750" algn="just">
              <a:buFont typeface="Wingdings" panose="05000000000000000000" pitchFamily="2" charset="2"/>
              <a:buChar char="ü"/>
            </a:pPr>
            <a:r>
              <a:rPr lang="en-US" dirty="0">
                <a:effectLst/>
                <a:latin typeface="Times New Roman" panose="02020603050405020304" pitchFamily="18" charset="0"/>
                <a:cs typeface="Times New Roman" panose="02020603050405020304" pitchFamily="18" charset="0"/>
              </a:rPr>
              <a:t>My solution: Automated, AI-powered payroll analysis delivering real-time validation, benchmarking, and transparent dashboards.</a:t>
            </a:r>
            <a:endParaRPr lang="en-US"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IN" dirty="0"/>
          </a:p>
          <a:p>
            <a:pPr marL="0" indent="0">
              <a:buNone/>
            </a:pPr>
            <a:endParaRPr lang="en-US" dirty="0">
              <a:latin typeface="Lato" panose="020F0502020204030203" pitchFamily="34" charset="0"/>
              <a:cs typeface="Arial" panose="020B0604020202020204" pitchFamily="34" charset="0"/>
            </a:endParaRPr>
          </a:p>
        </p:txBody>
      </p:sp>
    </p:spTree>
    <p:custDataLst>
      <p:tags r:id="rId1"/>
    </p:custDataLst>
    <p:extLst>
      <p:ext uri="{BB962C8B-B14F-4D97-AF65-F5344CB8AC3E}">
        <p14:creationId xmlns:p14="http://schemas.microsoft.com/office/powerpoint/2010/main" val="39533104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Data Input / Source</a:t>
            </a:r>
            <a:endParaRPr lang="en-US" sz="1600" dirty="0">
              <a:latin typeface="Times New Roman" panose="02020603050405020304" pitchFamily="18" charset="0"/>
              <a:cs typeface="Times New Roman" panose="02020603050405020304" pitchFamily="18" charset="0"/>
            </a:endParaRPr>
          </a:p>
        </p:txBody>
      </p:sp>
      <p:sp>
        <p:nvSpPr>
          <p:cNvPr id="9" name="Text 7"/>
          <p:cNvSpPr/>
          <p:nvPr/>
        </p:nvSpPr>
        <p:spPr>
          <a:xfrm>
            <a:off x="326848" y="1700400"/>
            <a:ext cx="4023360" cy="1188720"/>
          </a:xfrm>
          <a:prstGeom prst="rect">
            <a:avLst/>
          </a:prstGeom>
          <a:noFill/>
          <a:ln/>
        </p:spPr>
        <p:txBody>
          <a:bodyPr wrap="square" rtlCol="0" anchor="t"/>
          <a:lstStyle/>
          <a:p>
            <a:pPr marL="0" indent="0" algn="just">
              <a:buNone/>
            </a:pPr>
            <a:r>
              <a:rPr lang="en-US" sz="1600" dirty="0">
                <a:latin typeface="Times New Roman" panose="02020603050405020304" pitchFamily="18" charset="0"/>
                <a:cs typeface="Times New Roman" panose="02020603050405020304" pitchFamily="18" charset="0"/>
              </a:rPr>
              <a:t>Payroll dataset (Excel records: Employee ID, CTC, Overtime, Deductions).</a:t>
            </a: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Processing / Analysis</a:t>
            </a:r>
            <a:endParaRPr lang="en-US" sz="1600" dirty="0">
              <a:latin typeface="Times New Roman" panose="02020603050405020304" pitchFamily="18" charset="0"/>
              <a:cs typeface="Times New Roman" panose="02020603050405020304" pitchFamily="18" charset="0"/>
            </a:endParaRPr>
          </a:p>
        </p:txBody>
      </p:sp>
      <p:sp>
        <p:nvSpPr>
          <p:cNvPr id="13" name="Text 11"/>
          <p:cNvSpPr/>
          <p:nvPr/>
        </p:nvSpPr>
        <p:spPr>
          <a:xfrm>
            <a:off x="4761688" y="1700400"/>
            <a:ext cx="4023360" cy="1188720"/>
          </a:xfrm>
          <a:prstGeom prst="rect">
            <a:avLst/>
          </a:prstGeom>
          <a:noFill/>
          <a:ln/>
        </p:spPr>
        <p:txBody>
          <a:bodyPr wrap="square" rtlCol="0" anchor="t"/>
          <a:lstStyle/>
          <a:p>
            <a:pPr marL="0" indent="0" algn="just">
              <a:buNone/>
            </a:pPr>
            <a:r>
              <a:rPr lang="en-US" sz="1600" dirty="0">
                <a:latin typeface="Times New Roman" panose="02020603050405020304" pitchFamily="18" charset="0"/>
                <a:cs typeface="Times New Roman" panose="02020603050405020304" pitchFamily="18" charset="0"/>
              </a:rPr>
              <a:t>Excel formulas &amp; DAX in Power BI - clean, calculate, and analyze payroll data.</a:t>
            </a: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AI / Tool Integration</a:t>
            </a:r>
            <a:endParaRPr lang="en-US" sz="1600" dirty="0">
              <a:latin typeface="Times New Roman" panose="02020603050405020304" pitchFamily="18" charset="0"/>
              <a:cs typeface="Times New Roman" panose="02020603050405020304" pitchFamily="18" charset="0"/>
            </a:endParaRPr>
          </a:p>
        </p:txBody>
      </p:sp>
      <p:sp>
        <p:nvSpPr>
          <p:cNvPr id="17" name="Text 15"/>
          <p:cNvSpPr/>
          <p:nvPr/>
        </p:nvSpPr>
        <p:spPr>
          <a:xfrm>
            <a:off x="326848" y="3427056"/>
            <a:ext cx="4023360" cy="1188720"/>
          </a:xfrm>
          <a:prstGeom prst="rect">
            <a:avLst/>
          </a:prstGeom>
          <a:noFill/>
          <a:ln/>
        </p:spPr>
        <p:txBody>
          <a:bodyPr wrap="square" rtlCol="0" anchor="t"/>
          <a:lstStyle/>
          <a:p>
            <a:pPr marL="0" indent="0" algn="just">
              <a:buNone/>
            </a:pPr>
            <a:r>
              <a:rPr lang="en-IN" sz="1600" dirty="0">
                <a:latin typeface="Times New Roman" panose="02020603050405020304" pitchFamily="18" charset="0"/>
                <a:cs typeface="Times New Roman" panose="02020603050405020304" pitchFamily="18" charset="0"/>
              </a:rPr>
              <a:t>Copilot AI -  anomaly detection &amp; compliance alerts; Chatbot handles employee queries</a:t>
            </a:r>
            <a:endParaRPr lang="en-US" sz="1600" dirty="0">
              <a:latin typeface="Times New Roman" panose="02020603050405020304" pitchFamily="18" charset="0"/>
              <a:cs typeface="Times New Roman" panose="02020603050405020304" pitchFamily="18"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Output / Dashboard</a:t>
            </a:r>
            <a:endParaRPr lang="en-US" sz="1600" dirty="0">
              <a:latin typeface="Times New Roman" panose="02020603050405020304" pitchFamily="18" charset="0"/>
              <a:cs typeface="Times New Roman" panose="02020603050405020304" pitchFamily="18" charset="0"/>
            </a:endParaRPr>
          </a:p>
        </p:txBody>
      </p:sp>
      <p:sp>
        <p:nvSpPr>
          <p:cNvPr id="21" name="Text 19"/>
          <p:cNvSpPr/>
          <p:nvPr/>
        </p:nvSpPr>
        <p:spPr>
          <a:xfrm>
            <a:off x="4761688" y="3427056"/>
            <a:ext cx="4023360" cy="1188720"/>
          </a:xfrm>
          <a:prstGeom prst="rect">
            <a:avLst/>
          </a:prstGeom>
          <a:noFill/>
          <a:ln/>
        </p:spPr>
        <p:txBody>
          <a:bodyPr wrap="square" rtlCol="0" anchor="t"/>
          <a:lstStyle/>
          <a:p>
            <a:pPr marL="0" indent="0" algn="just">
              <a:buNone/>
            </a:pPr>
            <a:r>
              <a:rPr lang="en-US" sz="1600" dirty="0">
                <a:latin typeface="Times New Roman" panose="02020603050405020304" pitchFamily="18" charset="0"/>
                <a:cs typeface="Times New Roman" panose="02020603050405020304" pitchFamily="18" charset="0"/>
              </a:rPr>
              <a:t>Power BI dashboards - salary breakdown, pay equity visuals, compliance alerts, benchmarking</a:t>
            </a:r>
            <a:r>
              <a:rPr lang="en-US" sz="1600" dirty="0"/>
              <a:t>.</a:t>
            </a:r>
            <a:endParaRPr lang="en-US" sz="16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9" name="Shape 7"/>
          <p:cNvSpPr/>
          <p:nvPr/>
        </p:nvSpPr>
        <p:spPr>
          <a:xfrm>
            <a:off x="274320" y="2196877"/>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0" name="Text 8"/>
          <p:cNvSpPr/>
          <p:nvPr/>
        </p:nvSpPr>
        <p:spPr>
          <a:xfrm>
            <a:off x="274320"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11480" y="2825282"/>
            <a:ext cx="2514600" cy="1908496"/>
          </a:xfrm>
          <a:prstGeom prst="rect">
            <a:avLst/>
          </a:prstGeom>
          <a:noFill/>
          <a:ln/>
        </p:spPr>
        <p:txBody>
          <a:bodyPr wrap="square" rtlCol="0" anchor="ctr"/>
          <a:lstStyle/>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ETL approach – </a:t>
            </a:r>
          </a:p>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Extraction and transformation of data into structured standardized format. </a:t>
            </a:r>
          </a:p>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Loading it in Power BI for report creation.  </a:t>
            </a:r>
          </a:p>
          <a:p>
            <a:pPr marL="0" indent="0" algn="ctr">
              <a:buNone/>
            </a:pPr>
            <a:r>
              <a:rPr lang="en-US" sz="1600" dirty="0">
                <a:latin typeface="Lato" panose="020F0502020204030203" pitchFamily="34" charset="0"/>
                <a:ea typeface="Calibri" pitchFamily="34" charset="-122"/>
                <a:cs typeface="Arial" panose="020B0604020202020204" pitchFamily="34" charset="0"/>
              </a:rPr>
              <a:t> </a:t>
            </a:r>
            <a:endParaRPr lang="en-US" sz="1600" dirty="0">
              <a:latin typeface="Lato" panose="020F0502020204030203" pitchFamily="34" charset="0"/>
              <a:cs typeface="Arial" panose="020B0604020202020204" pitchFamily="34" charset="0"/>
            </a:endParaRPr>
          </a:p>
        </p:txBody>
      </p:sp>
      <p:sp>
        <p:nvSpPr>
          <p:cNvPr id="12" name="Shape 10"/>
          <p:cNvSpPr/>
          <p:nvPr/>
        </p:nvSpPr>
        <p:spPr>
          <a:xfrm>
            <a:off x="3922776" y="1648237"/>
            <a:ext cx="1371600" cy="1371600"/>
          </a:xfrm>
          <a:prstGeom prst="ellipse">
            <a:avLst/>
          </a:prstGeom>
          <a:solidFill>
            <a:srgbClr val="FFC000"/>
          </a:solidFill>
          <a:ln w="38100">
            <a:solidFill>
              <a:srgbClr val="FFFFFF"/>
            </a:solidFill>
            <a:prstDash val="solid"/>
          </a:ln>
        </p:spPr>
        <p:txBody>
          <a:bodyPr/>
          <a:lstStyle/>
          <a:p>
            <a:endParaRPr lang="en-IN">
              <a:latin typeface="Lato" panose="020F0502020204030203" pitchFamily="34" charset="0"/>
            </a:endParaRPr>
          </a:p>
        </p:txBody>
      </p:sp>
      <p:sp>
        <p:nvSpPr>
          <p:cNvPr id="14" name="Shape 12"/>
          <p:cNvSpPr/>
          <p:nvPr/>
        </p:nvSpPr>
        <p:spPr>
          <a:xfrm>
            <a:off x="3218688" y="2196877"/>
            <a:ext cx="2788920" cy="2651760"/>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5" name="Text 13"/>
          <p:cNvSpPr/>
          <p:nvPr/>
        </p:nvSpPr>
        <p:spPr>
          <a:xfrm>
            <a:off x="3218688"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2</a:t>
            </a: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825282"/>
            <a:ext cx="2514600" cy="1767820"/>
          </a:xfrm>
          <a:prstGeom prst="rect">
            <a:avLst/>
          </a:prstGeom>
          <a:noFill/>
          <a:ln/>
        </p:spPr>
        <p:txBody>
          <a:bodyPr wrap="square" rtlCol="0" anchor="ctr"/>
          <a:lstStyle/>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DAX Measures applied, visualization were prepared. The dashboard is being prepared.  </a:t>
            </a:r>
            <a:endParaRPr lang="en-US" sz="1600" dirty="0">
              <a:latin typeface="Times New Roman" panose="02020603050405020304" pitchFamily="18" charset="0"/>
              <a:cs typeface="Times New Roman" panose="02020603050405020304" pitchFamily="18" charset="0"/>
            </a:endParaRPr>
          </a:p>
        </p:txBody>
      </p:sp>
      <p:sp>
        <p:nvSpPr>
          <p:cNvPr id="17" name="Shape 15"/>
          <p:cNvSpPr/>
          <p:nvPr/>
        </p:nvSpPr>
        <p:spPr>
          <a:xfrm>
            <a:off x="6867144"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200479"/>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dirty="0">
              <a:latin typeface="Lato" panose="020F0502020204030203" pitchFamily="34" charset="0"/>
            </a:endParaRPr>
          </a:p>
        </p:txBody>
      </p:sp>
      <p:sp>
        <p:nvSpPr>
          <p:cNvPr id="20" name="Text 18"/>
          <p:cNvSpPr/>
          <p:nvPr/>
        </p:nvSpPr>
        <p:spPr>
          <a:xfrm>
            <a:off x="6163056"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3</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6300216" y="2919838"/>
            <a:ext cx="2514600" cy="1371600"/>
          </a:xfrm>
          <a:prstGeom prst="rect">
            <a:avLst/>
          </a:prstGeom>
          <a:noFill/>
          <a:ln/>
        </p:spPr>
        <p:txBody>
          <a:bodyPr wrap="square" rtlCol="0" anchor="ctr"/>
          <a:lstStyle/>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AI bot and agent to bridge transparency gap </a:t>
            </a:r>
            <a:endParaRPr lang="en-US" sz="1600" dirty="0">
              <a:latin typeface="Times New Roman" panose="02020603050405020304" pitchFamily="18" charset="0"/>
              <a:cs typeface="Times New Roman" panose="02020603050405020304" pitchFamily="18" charset="0"/>
            </a:endParaRPr>
          </a:p>
        </p:txBody>
      </p:sp>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endParaRPr lang="en-IN"/>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r>
              <a:rPr lang="en-US" sz="900" dirty="0">
                <a:solidFill>
                  <a:srgbClr val="607D8B"/>
                </a:solidFill>
                <a:latin typeface="Calibri" pitchFamily="34" charset="0"/>
                <a:ea typeface="Calibri" pitchFamily="34" charset="-122"/>
                <a:cs typeface="Calibri" pitchFamily="34" charset="-120"/>
              </a:rPr>
              <a:t>[https://your-project-demo-link.com]</a:t>
            </a: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Conclusion</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5486" y="1084927"/>
            <a:ext cx="4446513" cy="3474720"/>
          </a:xfrm>
          <a:prstGeom prst="rect">
            <a:avLst/>
          </a:prstGeom>
          <a:noFill/>
          <a:ln/>
        </p:spPr>
        <p:txBody>
          <a:bodyPr wrap="square" rtlCol="0" anchor="t"/>
          <a:lstStyle/>
          <a:p>
            <a:pPr marL="0" indent="0" algn="just">
              <a:buNone/>
            </a:pPr>
            <a:r>
              <a:rPr lang="en-US" dirty="0">
                <a:latin typeface="Times New Roman" panose="02020603050405020304" pitchFamily="18" charset="0"/>
                <a:cs typeface="Times New Roman" panose="02020603050405020304" pitchFamily="18" charset="0"/>
              </a:rPr>
              <a:t>This project delivers a practical solution to payroll transparency and compliance by integrating Excel, Power BI, Copilot AI, and chatbot technology. It simplifies salary breakdowns, ensures statutory compliance, benchmarks pay equity, and empowers both HR and employees with clear dashboards and instant communication. Overall, it strengthens trust, reduces disputes, and sets the foundation for scalable, AI-driven payroll systems.</a:t>
            </a: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Tree>
    <p:custDataLst>
      <p:tags r:id="rId1"/>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Conclusion</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5486" y="1084927"/>
            <a:ext cx="4446513" cy="3676987"/>
          </a:xfrm>
          <a:prstGeom prst="rect">
            <a:avLst/>
          </a:prstGeom>
          <a:noFill/>
          <a:ln/>
        </p:spPr>
        <p:txBody>
          <a:bodyPr wrap="square" rtlCol="0" anchor="t"/>
          <a:lstStyle/>
          <a:p>
            <a:pPr marL="0" indent="0">
              <a:buNone/>
            </a:pPr>
            <a:r>
              <a:rPr lang="en-US" dirty="0">
                <a:latin typeface="Times New Roman" panose="02020603050405020304" pitchFamily="18" charset="0"/>
                <a:cs typeface="Times New Roman" panose="02020603050405020304" pitchFamily="18" charset="0"/>
              </a:rPr>
              <a:t>Result achieved – </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Created an Excel with standardized structure and automated financial calculation. </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An Interactive power BI dashboard with Dax measures </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A copilot agent which can prepare report, summary, policy update, discrepancy alerts.</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A chatbot enabled in Copilot to simplify and explain the payroll structure, compliance fulfilled or not, policy explanation.  </a:t>
            </a: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Tree>
    <p:custDataLst>
      <p:tags r:id="rId1"/>
    </p:custDataLst>
    <p:extLst>
      <p:ext uri="{BB962C8B-B14F-4D97-AF65-F5344CB8AC3E}">
        <p14:creationId xmlns:p14="http://schemas.microsoft.com/office/powerpoint/2010/main" val="5107779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Future Scope</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3247" y="1082104"/>
            <a:ext cx="4114800" cy="3474720"/>
          </a:xfrm>
          <a:prstGeom prst="rect">
            <a:avLst/>
          </a:prstGeom>
          <a:noFill/>
          <a:ln/>
        </p:spPr>
        <p:txBody>
          <a:bodyPr wrap="square" rtlCol="0" anchor="t"/>
          <a:lstStyle/>
          <a:p>
            <a:pPr marL="285750" indent="-285750">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Real-Time Data Integration</a:t>
            </a:r>
            <a:r>
              <a:rPr lang="en-US" b="1" dirty="0">
                <a:solidFill>
                  <a:srgbClr val="1A1A2E"/>
                </a:solidFill>
                <a:latin typeface="Times New Roman" panose="02020603050405020304" pitchFamily="18" charset="0"/>
                <a:ea typeface="Calibri" pitchFamily="34" charset="-122"/>
                <a:cs typeface="Times New Roman" panose="02020603050405020304" pitchFamily="18" charset="0"/>
              </a:rPr>
              <a:t> : </a:t>
            </a:r>
            <a:r>
              <a:rPr lang="en-US" dirty="0">
                <a:latin typeface="Times New Roman" panose="02020603050405020304" pitchFamily="18" charset="0"/>
                <a:cs typeface="Times New Roman" panose="02020603050405020304" pitchFamily="18" charset="0"/>
              </a:rPr>
              <a:t>Connect payroll dashboards with live attendance &amp; HRMS systems.</a:t>
            </a:r>
            <a:endParaRPr lang="en-US" dirty="0">
              <a:solidFill>
                <a:srgbClr val="1A1A2E"/>
              </a:solidFill>
              <a:latin typeface="Times New Roman" panose="02020603050405020304" pitchFamily="18" charset="0"/>
              <a:ea typeface="Calibri" pitchFamily="34" charset="-122"/>
              <a:cs typeface="Times New Roman" panose="02020603050405020304" pitchFamily="18" charset="0"/>
            </a:endParaRP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Predictive Analytics</a:t>
            </a:r>
            <a:r>
              <a:rPr lang="en-US" dirty="0">
                <a:latin typeface="Times New Roman" panose="02020603050405020304" pitchFamily="18" charset="0"/>
                <a:cs typeface="Times New Roman" panose="02020603050405020304" pitchFamily="18" charset="0"/>
              </a:rPr>
              <a:t> : Use AI to forecast attrition risks, overtime trends, and pay equity gaps.</a:t>
            </a:r>
            <a:endParaRPr lang="en-US" dirty="0">
              <a:solidFill>
                <a:srgbClr val="1A1A2E"/>
              </a:solidFill>
              <a:latin typeface="Times New Roman" panose="02020603050405020304" pitchFamily="18" charset="0"/>
              <a:ea typeface="Calibri" pitchFamily="34" charset="-122"/>
              <a:cs typeface="Times New Roman" panose="02020603050405020304" pitchFamily="18" charset="0"/>
            </a:endParaRP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Mobile App Interface</a:t>
            </a:r>
            <a:r>
              <a:rPr lang="en-US" dirty="0">
                <a:latin typeface="Times New Roman" panose="02020603050405020304" pitchFamily="18" charset="0"/>
                <a:cs typeface="Times New Roman" panose="02020603050405020304" pitchFamily="18" charset="0"/>
              </a:rPr>
              <a:t> : Employee-friendly app for instant salary breakdowns &amp; compliance alerts.</a:t>
            </a:r>
            <a:endParaRPr lang="en-US" dirty="0">
              <a:solidFill>
                <a:srgbClr val="1A1A2E"/>
              </a:solidFill>
              <a:latin typeface="Times New Roman" panose="02020603050405020304" pitchFamily="18" charset="0"/>
              <a:ea typeface="Calibri" pitchFamily="34" charset="-122"/>
              <a:cs typeface="Times New Roman" panose="02020603050405020304" pitchFamily="18" charset="0"/>
            </a:endParaRP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Multilingual Support</a:t>
            </a:r>
            <a:r>
              <a:rPr lang="en-US" dirty="0">
                <a:latin typeface="Times New Roman" panose="02020603050405020304" pitchFamily="18" charset="0"/>
                <a:cs typeface="Times New Roman" panose="02020603050405020304" pitchFamily="18" charset="0"/>
              </a:rPr>
              <a:t> : Expand chatbot to regional languages for wider accessibility</a:t>
            </a:r>
            <a:r>
              <a:rPr lang="en-US" dirty="0"/>
              <a:t>.</a:t>
            </a:r>
            <a:endParaRPr lang="en-US"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Future Scope</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3247" y="1082104"/>
            <a:ext cx="4114800" cy="3474720"/>
          </a:xfrm>
          <a:prstGeom prst="rect">
            <a:avLst/>
          </a:prstGeom>
          <a:noFill/>
          <a:ln/>
        </p:spPr>
        <p:txBody>
          <a:bodyPr wrap="square" rtlCol="0" anchor="t"/>
          <a:lstStyle/>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Scalability</a:t>
            </a:r>
            <a:r>
              <a:rPr lang="en-US" dirty="0">
                <a:latin typeface="Times New Roman" panose="02020603050405020304" pitchFamily="18" charset="0"/>
                <a:cs typeface="Times New Roman" panose="02020603050405020304" pitchFamily="18" charset="0"/>
              </a:rPr>
              <a:t> : Extend solution to SMEs, startups, and educational institutions for payroll transparency.</a:t>
            </a:r>
          </a:p>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Automated Benchmarking</a:t>
            </a:r>
            <a:r>
              <a:rPr lang="en-US" dirty="0">
                <a:latin typeface="Times New Roman" panose="02020603050405020304" pitchFamily="18" charset="0"/>
                <a:cs typeface="Times New Roman" panose="02020603050405020304" pitchFamily="18" charset="0"/>
              </a:rPr>
              <a:t> : Direct integration with market salary databases for dynamic equity analysis.</a:t>
            </a:r>
          </a:p>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Automation : </a:t>
            </a:r>
            <a:r>
              <a:rPr lang="en-US" dirty="0">
                <a:latin typeface="Times New Roman" panose="02020603050405020304" pitchFamily="18" charset="0"/>
                <a:cs typeface="Times New Roman" panose="02020603050405020304" pitchFamily="18" charset="0"/>
              </a:rPr>
              <a:t> Excel through Macros and VBA and power Query enabled</a:t>
            </a:r>
            <a:r>
              <a:rPr lang="en-US" dirty="0">
                <a:cs typeface="Arial" panose="020B0604020202020204" pitchFamily="34" charset="0"/>
              </a:rPr>
              <a:t>. </a:t>
            </a: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extLst>
      <p:ext uri="{BB962C8B-B14F-4D97-AF65-F5344CB8AC3E}">
        <p14:creationId xmlns:p14="http://schemas.microsoft.com/office/powerpoint/2010/main" val="2859622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Times New Roman" panose="02020603050405020304" pitchFamily="18" charset="0"/>
                <a:ea typeface="Calibri" pitchFamily="34" charset="-122"/>
                <a:cs typeface="Times New Roman" panose="02020603050405020304" pitchFamily="18" charset="0"/>
              </a:rPr>
              <a:t>AICW Fellowship  |  Student Project Presentation 2026</a:t>
            </a:r>
            <a:endParaRPr lang="en-US" sz="1400" dirty="0">
              <a:latin typeface="Times New Roman" panose="02020603050405020304" pitchFamily="18" charset="0"/>
              <a:cs typeface="Times New Roman" panose="02020603050405020304" pitchFamily="18"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a:t>
            </a:r>
            <a:r>
              <a:rPr lang="en-US" sz="1100" dirty="0">
                <a:latin typeface="Times New Roman" panose="02020603050405020304" pitchFamily="18" charset="0"/>
                <a:ea typeface="Calibri"/>
                <a:cs typeface="Times New Roman" panose="02020603050405020304" pitchFamily="18" charset="0"/>
              </a:rPr>
              <a:t>LinkedIn  |   </a:t>
            </a:r>
            <a:r>
              <a:rPr lang="en-US" sz="1100" dirty="0" err="1">
                <a:latin typeface="Times New Roman" panose="02020603050405020304" pitchFamily="18" charset="0"/>
                <a:ea typeface="Calibri"/>
                <a:cs typeface="Times New Roman" panose="02020603050405020304" pitchFamily="18" charset="0"/>
              </a:rPr>
              <a:t>Edunet</a:t>
            </a:r>
            <a:r>
              <a:rPr lang="en-US" sz="1100" dirty="0">
                <a:latin typeface="Times New Roman" panose="02020603050405020304" pitchFamily="18" charset="0"/>
                <a:ea typeface="Calibri"/>
                <a:cs typeface="Times New Roman" panose="02020603050405020304" pitchFamily="18" charset="0"/>
              </a:rPr>
              <a:t> Foundation</a:t>
            </a:r>
            <a:endParaRPr lang="en-US" sz="1100" dirty="0">
              <a:latin typeface="Times New Roman" panose="02020603050405020304" pitchFamily="18" charset="0"/>
              <a:cs typeface="Times New Roman" panose="02020603050405020304" pitchFamily="18"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Times New Roman" panose="02020603050405020304" pitchFamily="18" charset="0"/>
                <a:ea typeface="Aileron Ultra-Bold"/>
                <a:cs typeface="Times New Roman" panose="02020603050405020304" pitchFamily="18"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492</TotalTime>
  <Words>1085</Words>
  <Application>Microsoft Office PowerPoint</Application>
  <PresentationFormat>On-screen Show (16:9)</PresentationFormat>
  <Paragraphs>144</Paragraphs>
  <Slides>22</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Lato</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sneha khandelwal</cp:lastModifiedBy>
  <cp:revision>31</cp:revision>
  <dcterms:created xsi:type="dcterms:W3CDTF">2026-02-18T09:17:23Z</dcterms:created>
  <dcterms:modified xsi:type="dcterms:W3CDTF">2026-04-09T13:21:27Z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