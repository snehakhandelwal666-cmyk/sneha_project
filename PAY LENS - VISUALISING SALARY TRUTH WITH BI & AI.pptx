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ags/tag5.xml" ContentType="application/vnd.openxmlformats-officedocument.presentationml.tags+xml"/>
  <Override PartName="/ppt/notesSlides/notesSlide1.xml" ContentType="application/vnd.openxmlformats-officedocument.presentationml.notesSlide+xml"/>
  <Override PartName="/ppt/tags/tag6.xml" ContentType="application/vnd.openxmlformats-officedocument.presentationml.tags+xml"/>
  <Override PartName="/ppt/notesSlides/notesSlide2.xml" ContentType="application/vnd.openxmlformats-officedocument.presentationml.notesSlide+xml"/>
  <Override PartName="/ppt/tags/tag7.xml" ContentType="application/vnd.openxmlformats-officedocument.presentationml.tags+xml"/>
  <Override PartName="/ppt/notesSlides/notesSlide3.xml" ContentType="application/vnd.openxmlformats-officedocument.presentationml.notesSlide+xml"/>
  <Override PartName="/ppt/tags/tag8.xml" ContentType="application/vnd.openxmlformats-officedocument.presentationml.tags+xml"/>
  <Override PartName="/ppt/notesSlides/notesSlide4.xml" ContentType="application/vnd.openxmlformats-officedocument.presentationml.notesSlide+xml"/>
  <Override PartName="/ppt/tags/tag9.xml" ContentType="application/vnd.openxmlformats-officedocument.presentationml.tags+xml"/>
  <Override PartName="/ppt/notesSlides/notesSlide5.xml" ContentType="application/vnd.openxmlformats-officedocument.presentationml.notesSlide+xml"/>
  <Override PartName="/ppt/tags/tag10.xml" ContentType="application/vnd.openxmlformats-officedocument.presentationml.tags+xml"/>
  <Override PartName="/ppt/notesSlides/notesSlide6.xml" ContentType="application/vnd.openxmlformats-officedocument.presentationml.notesSlide+xml"/>
  <Override PartName="/ppt/tags/tag11.xml" ContentType="application/vnd.openxmlformats-officedocument.presentationml.tags+xml"/>
  <Override PartName="/ppt/notesSlides/notesSlide7.xml" ContentType="application/vnd.openxmlformats-officedocument.presentationml.notesSlide+xml"/>
  <Override PartName="/ppt/tags/tag12.xml" ContentType="application/vnd.openxmlformats-officedocument.presentationml.tags+xml"/>
  <Override PartName="/ppt/notesSlides/notesSlide8.xml" ContentType="application/vnd.openxmlformats-officedocument.presentationml.notesSlide+xml"/>
  <Override PartName="/ppt/tags/tag13.xml" ContentType="application/vnd.openxmlformats-officedocument.presentationml.tags+xml"/>
  <Override PartName="/ppt/notesSlides/notesSlide9.xml" ContentType="application/vnd.openxmlformats-officedocument.presentationml.notesSlide+xml"/>
  <Override PartName="/ppt/tags/tag14.xml" ContentType="application/vnd.openxmlformats-officedocument.presentationml.tags+xml"/>
  <Override PartName="/ppt/notesSlides/notesSlide10.xml" ContentType="application/vnd.openxmlformats-officedocument.presentationml.notesSlide+xml"/>
  <Override PartName="/ppt/tags/tag15.xml" ContentType="application/vnd.openxmlformats-officedocument.presentationml.tags+xml"/>
  <Override PartName="/ppt/notesSlides/notesSlide11.xml" ContentType="application/vnd.openxmlformats-officedocument.presentationml.notesSlide+xml"/>
  <Override PartName="/ppt/tags/tag16.xml" ContentType="application/vnd.openxmlformats-officedocument.presentationml.tags+xml"/>
  <Override PartName="/ppt/notesSlides/notesSlide12.xml" ContentType="application/vnd.openxmlformats-officedocument.presentationml.notesSlide+xml"/>
  <Override PartName="/ppt/tags/tag17.xml" ContentType="application/vnd.openxmlformats-officedocument.presentationml.tags+xml"/>
  <Override PartName="/ppt/notesSlides/notesSlide13.xml" ContentType="application/vnd.openxmlformats-officedocument.presentationml.notesSlide+xml"/>
  <Override PartName="/ppt/tags/tag18.xml" ContentType="application/vnd.openxmlformats-officedocument.presentationml.tags+xml"/>
  <Override PartName="/ppt/notesSlides/notesSlide1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68" r:id="rId2"/>
    <p:sldId id="257" r:id="rId3"/>
    <p:sldId id="258" r:id="rId4"/>
    <p:sldId id="259" r:id="rId5"/>
    <p:sldId id="272" r:id="rId6"/>
    <p:sldId id="260" r:id="rId7"/>
    <p:sldId id="280" r:id="rId8"/>
    <p:sldId id="261" r:id="rId9"/>
    <p:sldId id="262" r:id="rId10"/>
    <p:sldId id="263" r:id="rId11"/>
    <p:sldId id="264" r:id="rId12"/>
    <p:sldId id="279" r:id="rId13"/>
    <p:sldId id="265" r:id="rId14"/>
    <p:sldId id="266" r:id="rId15"/>
  </p:sldIdLst>
  <p:sldSz cx="9144000" cy="5143500" type="screen16x9"/>
  <p:notesSz cx="5143500" cy="9144000"/>
  <p:custDataLst>
    <p:tags r:id="rId17"/>
  </p:custData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2" userDrawn="1">
          <p15:clr>
            <a:srgbClr val="A4A3A4"/>
          </p15:clr>
        </p15:guide>
        <p15:guide id="2" orient="horz" pos="852" userDrawn="1">
          <p15:clr>
            <a:srgbClr val="A4A3A4"/>
          </p15:clr>
        </p15:guide>
        <p15:guide id="3" pos="14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ED"/>
    <a:srgbClr val="CEE3FA"/>
    <a:srgbClr val="1565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4CBDC38-0F0C-EF0A-5169-FC033B4B9FA1}" v="4" dt="2026-02-19T06:35:51.132"/>
    <p1510:client id="{DDC0B4EE-2D5D-447B-AE11-6BA75CAE74F0}" v="57" dt="2026-02-19T11:04:26.3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101"/>
      </p:cViewPr>
      <p:guideLst>
        <p:guide orient="horz" pos="612"/>
        <p:guide orient="horz" pos="852"/>
        <p:guide pos="1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gs" Target="tags/tag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506544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B537A-B4DE-D1CE-3512-BCBDE4AC7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8C2033-F357-E6BE-5BF1-877BC1AD1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7B0F-4F1D-ECFE-050E-B551ABF85E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9889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21871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605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25572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tags r:id="rId1"/>
    </p:custDataLst>
    <p:extLst>
      <p:ext uri="{BB962C8B-B14F-4D97-AF65-F5344CB8AC3E}">
        <p14:creationId xmlns:p14="http://schemas.microsoft.com/office/powerpoint/2010/main" val="2652038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8">
            <a:extLst>
              <a:ext uri="{FF2B5EF4-FFF2-40B4-BE49-F238E27FC236}">
                <a16:creationId xmlns:a16="http://schemas.microsoft.com/office/drawing/2014/main" id="{A68FA2BF-9B6A-948D-43A3-04C207F5B33C}"/>
              </a:ext>
            </a:extLst>
          </p:cNvPr>
          <p:cNvGrpSpPr/>
          <p:nvPr userDrawn="1"/>
        </p:nvGrpSpPr>
        <p:grpSpPr>
          <a:xfrm flipH="1">
            <a:off x="0" y="5036127"/>
            <a:ext cx="9144000" cy="107373"/>
            <a:chOff x="0" y="0"/>
            <a:chExt cx="4402382" cy="66464"/>
          </a:xfrm>
        </p:grpSpPr>
        <p:sp>
          <p:nvSpPr>
            <p:cNvPr id="3" name="Freeform 9">
              <a:extLst>
                <a:ext uri="{FF2B5EF4-FFF2-40B4-BE49-F238E27FC236}">
                  <a16:creationId xmlns:a16="http://schemas.microsoft.com/office/drawing/2014/main" id="{8B83B97F-BA22-827B-E1BD-8DD9E1D3E0F6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4" name="TextBox 10">
              <a:extLst>
                <a:ext uri="{FF2B5EF4-FFF2-40B4-BE49-F238E27FC236}">
                  <a16:creationId xmlns:a16="http://schemas.microsoft.com/office/drawing/2014/main" id="{FC94FAC8-E161-FF7D-84BF-C498EADA502D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grpSp>
        <p:nvGrpSpPr>
          <p:cNvPr id="5" name="Group 8">
            <a:extLst>
              <a:ext uri="{FF2B5EF4-FFF2-40B4-BE49-F238E27FC236}">
                <a16:creationId xmlns:a16="http://schemas.microsoft.com/office/drawing/2014/main" id="{1988876B-43B4-642F-AB10-8B137A34386D}"/>
              </a:ext>
            </a:extLst>
          </p:cNvPr>
          <p:cNvGrpSpPr/>
          <p:nvPr userDrawn="1"/>
        </p:nvGrpSpPr>
        <p:grpSpPr>
          <a:xfrm>
            <a:off x="0" y="0"/>
            <a:ext cx="9144000" cy="424206"/>
            <a:chOff x="0" y="0"/>
            <a:chExt cx="4402382" cy="66464"/>
          </a:xfrm>
        </p:grpSpPr>
        <p:sp>
          <p:nvSpPr>
            <p:cNvPr id="6" name="Freeform 9">
              <a:extLst>
                <a:ext uri="{FF2B5EF4-FFF2-40B4-BE49-F238E27FC236}">
                  <a16:creationId xmlns:a16="http://schemas.microsoft.com/office/drawing/2014/main" id="{613EFC18-F90F-C121-3F09-53AB8141D658}"/>
                </a:ext>
              </a:extLst>
            </p:cNvPr>
            <p:cNvSpPr/>
            <p:nvPr/>
          </p:nvSpPr>
          <p:spPr>
            <a:xfrm>
              <a:off x="0" y="0"/>
              <a:ext cx="4402382" cy="66464"/>
            </a:xfrm>
            <a:custGeom>
              <a:avLst/>
              <a:gdLst/>
              <a:ahLst/>
              <a:cxnLst/>
              <a:rect l="l" t="t" r="r" b="b"/>
              <a:pathLst>
                <a:path w="4402382" h="66464">
                  <a:moveTo>
                    <a:pt x="0" y="0"/>
                  </a:moveTo>
                  <a:lnTo>
                    <a:pt x="4402382" y="0"/>
                  </a:lnTo>
                  <a:lnTo>
                    <a:pt x="44023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/>
            </a:p>
          </p:txBody>
        </p:sp>
        <p:sp>
          <p:nvSpPr>
            <p:cNvPr id="7" name="TextBox 10">
              <a:extLst>
                <a:ext uri="{FF2B5EF4-FFF2-40B4-BE49-F238E27FC236}">
                  <a16:creationId xmlns:a16="http://schemas.microsoft.com/office/drawing/2014/main" id="{D81422F7-8BE4-EC53-5307-9812E24315C1}"/>
                </a:ext>
              </a:extLst>
            </p:cNvPr>
            <p:cNvSpPr txBox="1"/>
            <p:nvPr/>
          </p:nvSpPr>
          <p:spPr>
            <a:xfrm>
              <a:off x="0" y="-38100"/>
              <a:ext cx="4402382" cy="104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pic>
        <p:nvPicPr>
          <p:cNvPr id="8" name="Picture 7" descr="A black and white logo&#10;&#10;AI-generated content may be incorrect.">
            <a:extLst>
              <a:ext uri="{FF2B5EF4-FFF2-40B4-BE49-F238E27FC236}">
                <a16:creationId xmlns:a16="http://schemas.microsoft.com/office/drawing/2014/main" id="{31AC86FC-94F1-13A5-98FD-3215960D2A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820696" y="55166"/>
            <a:ext cx="965086" cy="313873"/>
          </a:xfrm>
          <a:prstGeom prst="rect">
            <a:avLst/>
          </a:prstGeom>
        </p:spPr>
      </p:pic>
    </p:spTree>
    <p:custDataLst>
      <p:tags r:id="rId4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.xml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8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9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0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5.xml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6.xml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7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219A4-F5CF-3B84-A831-006143830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5BBAA9FE-14A6-3635-BDE0-21E75B60255D}"/>
              </a:ext>
            </a:extLst>
          </p:cNvPr>
          <p:cNvSpPr/>
          <p:nvPr/>
        </p:nvSpPr>
        <p:spPr>
          <a:xfrm>
            <a:off x="387458" y="451426"/>
            <a:ext cx="3603333" cy="485021"/>
          </a:xfrm>
          <a:prstGeom prst="roundRect">
            <a:avLst/>
          </a:prstGeom>
          <a:solidFill>
            <a:schemeClr val="bg1"/>
          </a:solidFill>
          <a:ln>
            <a:solidFill>
              <a:srgbClr val="1D63B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C713F69-E6DD-B345-33D3-499B008F7A17}"/>
              </a:ext>
            </a:extLst>
          </p:cNvPr>
          <p:cNvGrpSpPr/>
          <p:nvPr/>
        </p:nvGrpSpPr>
        <p:grpSpPr>
          <a:xfrm>
            <a:off x="0" y="0"/>
            <a:ext cx="4153368" cy="126178"/>
            <a:chOff x="0" y="0"/>
            <a:chExt cx="2187782" cy="6646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6F12EA0-AE27-85D3-96E6-BED52A471BC9}"/>
                </a:ext>
              </a:extLst>
            </p:cNvPr>
            <p:cNvSpPr/>
            <p:nvPr/>
          </p:nvSpPr>
          <p:spPr>
            <a:xfrm>
              <a:off x="0" y="0"/>
              <a:ext cx="2187782" cy="66464"/>
            </a:xfrm>
            <a:custGeom>
              <a:avLst/>
              <a:gdLst/>
              <a:ahLst/>
              <a:cxnLst/>
              <a:rect l="l" t="t" r="r" b="b"/>
              <a:pathLst>
                <a:path w="2187782" h="66464">
                  <a:moveTo>
                    <a:pt x="0" y="0"/>
                  </a:moveTo>
                  <a:lnTo>
                    <a:pt x="2187782" y="0"/>
                  </a:lnTo>
                  <a:lnTo>
                    <a:pt x="2187782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EEDED881-7208-D373-6128-A08573FEEA11}"/>
                </a:ext>
              </a:extLst>
            </p:cNvPr>
            <p:cNvSpPr txBox="1"/>
            <p:nvPr/>
          </p:nvSpPr>
          <p:spPr>
            <a:xfrm>
              <a:off x="0" y="-38100"/>
              <a:ext cx="2187782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071C7EC6-7D4C-F061-CDE0-6A50914ECB9E}"/>
              </a:ext>
            </a:extLst>
          </p:cNvPr>
          <p:cNvGrpSpPr/>
          <p:nvPr/>
        </p:nvGrpSpPr>
        <p:grpSpPr>
          <a:xfrm>
            <a:off x="0" y="5017322"/>
            <a:ext cx="7571294" cy="126178"/>
            <a:chOff x="0" y="0"/>
            <a:chExt cx="3988171" cy="66464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B4AD79D7-46FD-6B0C-7DE4-FF78018F4A88}"/>
                </a:ext>
              </a:extLst>
            </p:cNvPr>
            <p:cNvSpPr/>
            <p:nvPr/>
          </p:nvSpPr>
          <p:spPr>
            <a:xfrm>
              <a:off x="0" y="0"/>
              <a:ext cx="3988171" cy="66464"/>
            </a:xfrm>
            <a:custGeom>
              <a:avLst/>
              <a:gdLst/>
              <a:ahLst/>
              <a:cxnLst/>
              <a:rect l="l" t="t" r="r" b="b"/>
              <a:pathLst>
                <a:path w="3988171" h="66464">
                  <a:moveTo>
                    <a:pt x="0" y="0"/>
                  </a:moveTo>
                  <a:lnTo>
                    <a:pt x="3988171" y="0"/>
                  </a:lnTo>
                  <a:lnTo>
                    <a:pt x="3988171" y="66464"/>
                  </a:lnTo>
                  <a:lnTo>
                    <a:pt x="0" y="66464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C396E051-FCE8-96D0-093A-9DAA0B6CA32C}"/>
                </a:ext>
              </a:extLst>
            </p:cNvPr>
            <p:cNvSpPr txBox="1"/>
            <p:nvPr/>
          </p:nvSpPr>
          <p:spPr>
            <a:xfrm>
              <a:off x="0" y="-38100"/>
              <a:ext cx="3988171" cy="104564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614E0FB1-7343-AA0B-7107-6EF9941BD391}"/>
              </a:ext>
            </a:extLst>
          </p:cNvPr>
          <p:cNvGrpSpPr/>
          <p:nvPr/>
        </p:nvGrpSpPr>
        <p:grpSpPr>
          <a:xfrm rot="2700000">
            <a:off x="3661769" y="-528997"/>
            <a:ext cx="4602320" cy="2123257"/>
            <a:chOff x="0" y="0"/>
            <a:chExt cx="2424267" cy="1118423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AFFC971-D518-DC63-82CA-066EEEE8BD9D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0" name="TextBox 10">
              <a:extLst>
                <a:ext uri="{FF2B5EF4-FFF2-40B4-BE49-F238E27FC236}">
                  <a16:creationId xmlns:a16="http://schemas.microsoft.com/office/drawing/2014/main" id="{EF1F892B-32CB-D20F-CD5E-29D9DD282E0B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1" name="Group 11">
            <a:extLst>
              <a:ext uri="{FF2B5EF4-FFF2-40B4-BE49-F238E27FC236}">
                <a16:creationId xmlns:a16="http://schemas.microsoft.com/office/drawing/2014/main" id="{0903312A-41E4-0C98-DB5C-2FD31C761F00}"/>
              </a:ext>
            </a:extLst>
          </p:cNvPr>
          <p:cNvGrpSpPr/>
          <p:nvPr/>
        </p:nvGrpSpPr>
        <p:grpSpPr>
          <a:xfrm rot="2700000">
            <a:off x="5632358" y="303921"/>
            <a:ext cx="3724082" cy="1064394"/>
            <a:chOff x="0" y="0"/>
            <a:chExt cx="1961656" cy="560668"/>
          </a:xfrm>
        </p:grpSpPr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A8440D19-D63B-AF33-3EAE-F2B37D5CF256}"/>
                </a:ext>
              </a:extLst>
            </p:cNvPr>
            <p:cNvSpPr/>
            <p:nvPr/>
          </p:nvSpPr>
          <p:spPr>
            <a:xfrm>
              <a:off x="0" y="0"/>
              <a:ext cx="1961656" cy="560668"/>
            </a:xfrm>
            <a:custGeom>
              <a:avLst/>
              <a:gdLst/>
              <a:ahLst/>
              <a:cxnLst/>
              <a:rect l="l" t="t" r="r" b="b"/>
              <a:pathLst>
                <a:path w="1961656" h="560668">
                  <a:moveTo>
                    <a:pt x="0" y="0"/>
                  </a:moveTo>
                  <a:lnTo>
                    <a:pt x="1961656" y="0"/>
                  </a:lnTo>
                  <a:lnTo>
                    <a:pt x="1961656" y="560668"/>
                  </a:lnTo>
                  <a:lnTo>
                    <a:pt x="0" y="560668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3" name="TextBox 13">
              <a:extLst>
                <a:ext uri="{FF2B5EF4-FFF2-40B4-BE49-F238E27FC236}">
                  <a16:creationId xmlns:a16="http://schemas.microsoft.com/office/drawing/2014/main" id="{70297523-D0C9-81EB-FA45-802E3E7D096A}"/>
                </a:ext>
              </a:extLst>
            </p:cNvPr>
            <p:cNvSpPr txBox="1"/>
            <p:nvPr/>
          </p:nvSpPr>
          <p:spPr>
            <a:xfrm>
              <a:off x="0" y="-38100"/>
              <a:ext cx="1961656" cy="598768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3AF039C7-166F-DC3C-FD40-F2CACE3926F2}"/>
              </a:ext>
            </a:extLst>
          </p:cNvPr>
          <p:cNvGrpSpPr/>
          <p:nvPr/>
        </p:nvGrpSpPr>
        <p:grpSpPr>
          <a:xfrm rot="2700000">
            <a:off x="7528217" y="-892816"/>
            <a:ext cx="2873959" cy="1967021"/>
            <a:chOff x="0" y="0"/>
            <a:chExt cx="1513855" cy="103612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166C2FB9-D184-461A-308A-1F6AFD5F7BBF}"/>
                </a:ext>
              </a:extLst>
            </p:cNvPr>
            <p:cNvSpPr/>
            <p:nvPr/>
          </p:nvSpPr>
          <p:spPr>
            <a:xfrm>
              <a:off x="0" y="0"/>
              <a:ext cx="1513855" cy="1036126"/>
            </a:xfrm>
            <a:custGeom>
              <a:avLst/>
              <a:gdLst/>
              <a:ahLst/>
              <a:cxnLst/>
              <a:rect l="l" t="t" r="r" b="b"/>
              <a:pathLst>
                <a:path w="1513855" h="1036126">
                  <a:moveTo>
                    <a:pt x="0" y="0"/>
                  </a:moveTo>
                  <a:lnTo>
                    <a:pt x="1513855" y="0"/>
                  </a:lnTo>
                  <a:lnTo>
                    <a:pt x="1513855" y="1036126"/>
                  </a:lnTo>
                  <a:lnTo>
                    <a:pt x="0" y="1036126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6" name="TextBox 16">
              <a:extLst>
                <a:ext uri="{FF2B5EF4-FFF2-40B4-BE49-F238E27FC236}">
                  <a16:creationId xmlns:a16="http://schemas.microsoft.com/office/drawing/2014/main" id="{D78B5C6B-C409-CCBB-2B06-FBD31CAC99E4}"/>
                </a:ext>
              </a:extLst>
            </p:cNvPr>
            <p:cNvSpPr txBox="1"/>
            <p:nvPr/>
          </p:nvSpPr>
          <p:spPr>
            <a:xfrm>
              <a:off x="0" y="-38100"/>
              <a:ext cx="1513855" cy="1074226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17" name="Group 17">
            <a:extLst>
              <a:ext uri="{FF2B5EF4-FFF2-40B4-BE49-F238E27FC236}">
                <a16:creationId xmlns:a16="http://schemas.microsoft.com/office/drawing/2014/main" id="{BB6CD3B7-9C29-31B7-074F-1C8E56CB1626}"/>
              </a:ext>
            </a:extLst>
          </p:cNvPr>
          <p:cNvGrpSpPr/>
          <p:nvPr/>
        </p:nvGrpSpPr>
        <p:grpSpPr>
          <a:xfrm rot="2700000">
            <a:off x="6756840" y="4003698"/>
            <a:ext cx="4602320" cy="2123257"/>
            <a:chOff x="0" y="0"/>
            <a:chExt cx="2424267" cy="1118423"/>
          </a:xfrm>
        </p:grpSpPr>
        <p:sp>
          <p:nvSpPr>
            <p:cNvPr id="18" name="Freeform 18">
              <a:extLst>
                <a:ext uri="{FF2B5EF4-FFF2-40B4-BE49-F238E27FC236}">
                  <a16:creationId xmlns:a16="http://schemas.microsoft.com/office/drawing/2014/main" id="{059C69CD-FBFA-E4B4-AA86-445D5367D190}"/>
                </a:ext>
              </a:extLst>
            </p:cNvPr>
            <p:cNvSpPr/>
            <p:nvPr/>
          </p:nvSpPr>
          <p:spPr>
            <a:xfrm>
              <a:off x="0" y="0"/>
              <a:ext cx="2424267" cy="1118423"/>
            </a:xfrm>
            <a:custGeom>
              <a:avLst/>
              <a:gdLst/>
              <a:ahLst/>
              <a:cxnLst/>
              <a:rect l="l" t="t" r="r" b="b"/>
              <a:pathLst>
                <a:path w="2424267" h="1118423">
                  <a:moveTo>
                    <a:pt x="0" y="0"/>
                  </a:moveTo>
                  <a:lnTo>
                    <a:pt x="2424267" y="0"/>
                  </a:lnTo>
                  <a:lnTo>
                    <a:pt x="2424267" y="1118423"/>
                  </a:lnTo>
                  <a:lnTo>
                    <a:pt x="0" y="1118423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19" name="TextBox 19">
              <a:extLst>
                <a:ext uri="{FF2B5EF4-FFF2-40B4-BE49-F238E27FC236}">
                  <a16:creationId xmlns:a16="http://schemas.microsoft.com/office/drawing/2014/main" id="{3FFFD043-6DDC-803C-1EE7-E745D2CD7192}"/>
                </a:ext>
              </a:extLst>
            </p:cNvPr>
            <p:cNvSpPr txBox="1"/>
            <p:nvPr/>
          </p:nvSpPr>
          <p:spPr>
            <a:xfrm>
              <a:off x="0" y="-38100"/>
              <a:ext cx="2424267" cy="1156523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0" name="Group 20">
            <a:extLst>
              <a:ext uri="{FF2B5EF4-FFF2-40B4-BE49-F238E27FC236}">
                <a16:creationId xmlns:a16="http://schemas.microsoft.com/office/drawing/2014/main" id="{40B8BCE7-F5DB-C74D-120E-15FE119805F6}"/>
              </a:ext>
            </a:extLst>
          </p:cNvPr>
          <p:cNvGrpSpPr/>
          <p:nvPr/>
        </p:nvGrpSpPr>
        <p:grpSpPr>
          <a:xfrm rot="2700000">
            <a:off x="7842195" y="3672519"/>
            <a:ext cx="2166949" cy="1126189"/>
            <a:chOff x="0" y="0"/>
            <a:chExt cx="1141438" cy="593219"/>
          </a:xfrm>
        </p:grpSpPr>
        <p:sp>
          <p:nvSpPr>
            <p:cNvPr id="21" name="Freeform 21">
              <a:extLst>
                <a:ext uri="{FF2B5EF4-FFF2-40B4-BE49-F238E27FC236}">
                  <a16:creationId xmlns:a16="http://schemas.microsoft.com/office/drawing/2014/main" id="{7CCA289A-B33A-364F-D970-B4B0741374DB}"/>
                </a:ext>
              </a:extLst>
            </p:cNvPr>
            <p:cNvSpPr/>
            <p:nvPr/>
          </p:nvSpPr>
          <p:spPr>
            <a:xfrm>
              <a:off x="0" y="0"/>
              <a:ext cx="1141438" cy="593219"/>
            </a:xfrm>
            <a:custGeom>
              <a:avLst/>
              <a:gdLst/>
              <a:ahLst/>
              <a:cxnLst/>
              <a:rect l="l" t="t" r="r" b="b"/>
              <a:pathLst>
                <a:path w="1141438" h="593219">
                  <a:moveTo>
                    <a:pt x="0" y="0"/>
                  </a:moveTo>
                  <a:lnTo>
                    <a:pt x="1141438" y="0"/>
                  </a:lnTo>
                  <a:lnTo>
                    <a:pt x="1141438" y="593219"/>
                  </a:lnTo>
                  <a:lnTo>
                    <a:pt x="0" y="593219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2" name="TextBox 22">
              <a:extLst>
                <a:ext uri="{FF2B5EF4-FFF2-40B4-BE49-F238E27FC236}">
                  <a16:creationId xmlns:a16="http://schemas.microsoft.com/office/drawing/2014/main" id="{6D1B43F8-87A5-2EDD-F149-BE82A2984EB5}"/>
                </a:ext>
              </a:extLst>
            </p:cNvPr>
            <p:cNvSpPr txBox="1"/>
            <p:nvPr/>
          </p:nvSpPr>
          <p:spPr>
            <a:xfrm>
              <a:off x="0" y="-38100"/>
              <a:ext cx="1141438" cy="631319"/>
            </a:xfrm>
            <a:prstGeom prst="rect">
              <a:avLst/>
            </a:prstGeom>
          </p:spPr>
          <p:txBody>
            <a:bodyPr lIns="25400" tIns="25400" rIns="25400" bIns="25400" rtlCol="0" anchor="ctr"/>
            <a:lstStyle/>
            <a:p>
              <a:pPr algn="ctr">
                <a:lnSpc>
                  <a:spcPts val="1330"/>
                </a:lnSpc>
              </a:pPr>
              <a:endParaRPr sz="700"/>
            </a:p>
          </p:txBody>
        </p:sp>
      </p:grpSp>
      <p:grpSp>
        <p:nvGrpSpPr>
          <p:cNvPr id="23" name="Group 23">
            <a:extLst>
              <a:ext uri="{FF2B5EF4-FFF2-40B4-BE49-F238E27FC236}">
                <a16:creationId xmlns:a16="http://schemas.microsoft.com/office/drawing/2014/main" id="{2ABF0622-9241-CD75-6B4F-4578A248FF9B}"/>
              </a:ext>
            </a:extLst>
          </p:cNvPr>
          <p:cNvGrpSpPr/>
          <p:nvPr/>
        </p:nvGrpSpPr>
        <p:grpSpPr>
          <a:xfrm>
            <a:off x="5720497" y="768985"/>
            <a:ext cx="3475712" cy="3475712"/>
            <a:chOff x="0" y="0"/>
            <a:chExt cx="812800" cy="812800"/>
          </a:xfrm>
        </p:grpSpPr>
        <p:sp>
          <p:nvSpPr>
            <p:cNvPr id="24" name="Freeform 24">
              <a:extLst>
                <a:ext uri="{FF2B5EF4-FFF2-40B4-BE49-F238E27FC236}">
                  <a16:creationId xmlns:a16="http://schemas.microsoft.com/office/drawing/2014/main" id="{0A81DF20-399E-AF89-89B0-FC2CA2FD0162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574675" y="0"/>
                  </a:moveTo>
                  <a:lnTo>
                    <a:pt x="812800" y="238125"/>
                  </a:lnTo>
                  <a:lnTo>
                    <a:pt x="812800" y="574675"/>
                  </a:lnTo>
                  <a:lnTo>
                    <a:pt x="574675" y="812800"/>
                  </a:lnTo>
                  <a:lnTo>
                    <a:pt x="238125" y="812800"/>
                  </a:lnTo>
                  <a:lnTo>
                    <a:pt x="0" y="574675"/>
                  </a:lnTo>
                  <a:lnTo>
                    <a:pt x="0" y="238125"/>
                  </a:lnTo>
                  <a:lnTo>
                    <a:pt x="238125" y="0"/>
                  </a:lnTo>
                  <a:lnTo>
                    <a:pt x="574675" y="0"/>
                  </a:lnTo>
                  <a:close/>
                </a:path>
              </a:pathLst>
            </a:custGeom>
            <a:gradFill rotWithShape="1">
              <a:gsLst>
                <a:gs pos="0">
                  <a:srgbClr val="042882">
                    <a:alpha val="100000"/>
                  </a:srgbClr>
                </a:gs>
                <a:gs pos="100000">
                  <a:srgbClr val="2A83D0">
                    <a:alpha val="100000"/>
                  </a:srgbClr>
                </a:gs>
              </a:gsLst>
              <a:lin ang="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IN" sz="700"/>
            </a:p>
          </p:txBody>
        </p:sp>
        <p:sp>
          <p:nvSpPr>
            <p:cNvPr id="25" name="TextBox 25">
              <a:extLst>
                <a:ext uri="{FF2B5EF4-FFF2-40B4-BE49-F238E27FC236}">
                  <a16:creationId xmlns:a16="http://schemas.microsoft.com/office/drawing/2014/main" id="{40C2189F-9BF3-791F-6AA1-3475C52DFABC}"/>
                </a:ext>
              </a:extLst>
            </p:cNvPr>
            <p:cNvSpPr txBox="1"/>
            <p:nvPr/>
          </p:nvSpPr>
          <p:spPr>
            <a:xfrm>
              <a:off x="63500" y="25400"/>
              <a:ext cx="685800" cy="723900"/>
            </a:xfrm>
            <a:prstGeom prst="rect">
              <a:avLst/>
            </a:prstGeom>
          </p:spPr>
          <p:txBody>
            <a:bodyPr lIns="29445" tIns="29445" rIns="29445" bIns="29445" rtlCol="0" anchor="ctr"/>
            <a:lstStyle/>
            <a:p>
              <a:pPr algn="ctr">
                <a:lnSpc>
                  <a:spcPts val="1330"/>
                </a:lnSpc>
                <a:spcBef>
                  <a:spcPct val="0"/>
                </a:spcBef>
              </a:pPr>
              <a:endParaRPr sz="700"/>
            </a:p>
          </p:txBody>
        </p:sp>
      </p:grpSp>
      <p:sp>
        <p:nvSpPr>
          <p:cNvPr id="34" name="Freeform 34">
            <a:extLst>
              <a:ext uri="{FF2B5EF4-FFF2-40B4-BE49-F238E27FC236}">
                <a16:creationId xmlns:a16="http://schemas.microsoft.com/office/drawing/2014/main" id="{79637531-A44E-C462-F403-761C10B95F61}"/>
              </a:ext>
            </a:extLst>
          </p:cNvPr>
          <p:cNvSpPr/>
          <p:nvPr/>
        </p:nvSpPr>
        <p:spPr>
          <a:xfrm>
            <a:off x="4814816" y="492813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7"/>
                </a:lnTo>
                <a:lnTo>
                  <a:pt x="0" y="31925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5" name="Freeform 35">
            <a:extLst>
              <a:ext uri="{FF2B5EF4-FFF2-40B4-BE49-F238E27FC236}">
                <a16:creationId xmlns:a16="http://schemas.microsoft.com/office/drawing/2014/main" id="{DCD7CC8C-164D-C41A-6252-42C99A05871B}"/>
              </a:ext>
            </a:extLst>
          </p:cNvPr>
          <p:cNvSpPr/>
          <p:nvPr/>
        </p:nvSpPr>
        <p:spPr>
          <a:xfrm>
            <a:off x="8435937" y="4382878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7" y="0"/>
                </a:lnTo>
                <a:lnTo>
                  <a:pt x="1714127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sp>
        <p:nvSpPr>
          <p:cNvPr id="36" name="Freeform 36">
            <a:extLst>
              <a:ext uri="{FF2B5EF4-FFF2-40B4-BE49-F238E27FC236}">
                <a16:creationId xmlns:a16="http://schemas.microsoft.com/office/drawing/2014/main" id="{8672D197-9BF9-8CFA-6DF7-2937B68FFD86}"/>
              </a:ext>
            </a:extLst>
          </p:cNvPr>
          <p:cNvSpPr/>
          <p:nvPr/>
        </p:nvSpPr>
        <p:spPr>
          <a:xfrm>
            <a:off x="8726258" y="4572000"/>
            <a:ext cx="857064" cy="159628"/>
          </a:xfrm>
          <a:custGeom>
            <a:avLst/>
            <a:gdLst/>
            <a:ahLst/>
            <a:cxnLst/>
            <a:rect l="l" t="t" r="r" b="b"/>
            <a:pathLst>
              <a:path w="1714127" h="319256">
                <a:moveTo>
                  <a:pt x="0" y="0"/>
                </a:moveTo>
                <a:lnTo>
                  <a:pt x="1714128" y="0"/>
                </a:lnTo>
                <a:lnTo>
                  <a:pt x="1714128" y="319256"/>
                </a:lnTo>
                <a:lnTo>
                  <a:pt x="0" y="31925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IN" sz="700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1E9CDC51-FF0E-F171-6762-BB19A05B4D8E}"/>
              </a:ext>
            </a:extLst>
          </p:cNvPr>
          <p:cNvGrpSpPr/>
          <p:nvPr/>
        </p:nvGrpSpPr>
        <p:grpSpPr>
          <a:xfrm>
            <a:off x="-11288" y="2510327"/>
            <a:ext cx="4224335" cy="431080"/>
            <a:chOff x="0" y="2985846"/>
            <a:chExt cx="4224335" cy="431080"/>
          </a:xfrm>
        </p:grpSpPr>
        <p:grpSp>
          <p:nvGrpSpPr>
            <p:cNvPr id="28" name="Group 28">
              <a:extLst>
                <a:ext uri="{FF2B5EF4-FFF2-40B4-BE49-F238E27FC236}">
                  <a16:creationId xmlns:a16="http://schemas.microsoft.com/office/drawing/2014/main" id="{20253B4E-5254-3A4A-D2B3-FDC541381304}"/>
                </a:ext>
              </a:extLst>
            </p:cNvPr>
            <p:cNvGrpSpPr/>
            <p:nvPr/>
          </p:nvGrpSpPr>
          <p:grpSpPr>
            <a:xfrm>
              <a:off x="0" y="2985846"/>
              <a:ext cx="4224335" cy="431080"/>
              <a:chOff x="0" y="-38100"/>
              <a:chExt cx="4355842" cy="444500"/>
            </a:xfrm>
          </p:grpSpPr>
          <p:sp>
            <p:nvSpPr>
              <p:cNvPr id="29" name="Freeform 29">
                <a:extLst>
                  <a:ext uri="{FF2B5EF4-FFF2-40B4-BE49-F238E27FC236}">
                    <a16:creationId xmlns:a16="http://schemas.microsoft.com/office/drawing/2014/main" id="{98AC3028-4A73-A10C-B23F-D62CE7C18AED}"/>
                  </a:ext>
                </a:extLst>
              </p:cNvPr>
              <p:cNvSpPr/>
              <p:nvPr/>
            </p:nvSpPr>
            <p:spPr>
              <a:xfrm>
                <a:off x="0" y="0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30" name="TextBox 30">
                <a:extLst>
                  <a:ext uri="{FF2B5EF4-FFF2-40B4-BE49-F238E27FC236}">
                    <a16:creationId xmlns:a16="http://schemas.microsoft.com/office/drawing/2014/main" id="{199C1F1F-4C5C-E8C0-1593-D5C9F6952716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44" name="TextBox 44">
              <a:extLst>
                <a:ext uri="{FF2B5EF4-FFF2-40B4-BE49-F238E27FC236}">
                  <a16:creationId xmlns:a16="http://schemas.microsoft.com/office/drawing/2014/main" id="{3578161E-D839-4793-89CB-83A287A2849E}"/>
                </a:ext>
              </a:extLst>
            </p:cNvPr>
            <p:cNvSpPr txBox="1"/>
            <p:nvPr/>
          </p:nvSpPr>
          <p:spPr>
            <a:xfrm>
              <a:off x="187307" y="3100839"/>
              <a:ext cx="3809409" cy="22358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spc="583" dirty="0">
                  <a:solidFill>
                    <a:srgbClr val="FFFFFF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PRESENTATION 2026</a:t>
              </a:r>
            </a:p>
          </p:txBody>
        </p:sp>
      </p:grpSp>
      <p:sp>
        <p:nvSpPr>
          <p:cNvPr id="40" name="TextBox 40">
            <a:extLst>
              <a:ext uri="{FF2B5EF4-FFF2-40B4-BE49-F238E27FC236}">
                <a16:creationId xmlns:a16="http://schemas.microsoft.com/office/drawing/2014/main" id="{EEE29F0A-1253-B8CE-E742-41B8B6EB922D}"/>
              </a:ext>
            </a:extLst>
          </p:cNvPr>
          <p:cNvSpPr txBox="1"/>
          <p:nvPr/>
        </p:nvSpPr>
        <p:spPr>
          <a:xfrm>
            <a:off x="854979" y="3645023"/>
            <a:ext cx="1633432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Name</a:t>
            </a:r>
          </a:p>
        </p:txBody>
      </p:sp>
      <p:sp>
        <p:nvSpPr>
          <p:cNvPr id="42" name="TextBox 42">
            <a:extLst>
              <a:ext uri="{FF2B5EF4-FFF2-40B4-BE49-F238E27FC236}">
                <a16:creationId xmlns:a16="http://schemas.microsoft.com/office/drawing/2014/main" id="{2E9FAC26-1E84-D690-0FD4-B1A364AF40DE}"/>
              </a:ext>
            </a:extLst>
          </p:cNvPr>
          <p:cNvSpPr txBox="1"/>
          <p:nvPr/>
        </p:nvSpPr>
        <p:spPr>
          <a:xfrm>
            <a:off x="854979" y="3806607"/>
            <a:ext cx="1633432" cy="2274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Sneha khandelwal </a:t>
            </a:r>
          </a:p>
        </p:txBody>
      </p:sp>
      <p:pic>
        <p:nvPicPr>
          <p:cNvPr id="50" name="Picture 49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C926F708-70B7-B0DB-A148-0FA2830D925D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757" t="2453" r="27842" b="53701"/>
          <a:stretch>
            <a:fillRect/>
          </a:stretch>
        </p:blipFill>
        <p:spPr>
          <a:xfrm>
            <a:off x="429808" y="3639905"/>
            <a:ext cx="395331" cy="381795"/>
          </a:xfrm>
          <a:prstGeom prst="rect">
            <a:avLst/>
          </a:prstGeom>
        </p:spPr>
      </p:pic>
      <p:sp>
        <p:nvSpPr>
          <p:cNvPr id="41" name="TextBox 41">
            <a:extLst>
              <a:ext uri="{FF2B5EF4-FFF2-40B4-BE49-F238E27FC236}">
                <a16:creationId xmlns:a16="http://schemas.microsoft.com/office/drawing/2014/main" id="{3403BDBE-05E2-50C5-0F55-4F0483352E2C}"/>
              </a:ext>
            </a:extLst>
          </p:cNvPr>
          <p:cNvSpPr txBox="1"/>
          <p:nvPr/>
        </p:nvSpPr>
        <p:spPr>
          <a:xfrm>
            <a:off x="3176086" y="3642226"/>
            <a:ext cx="1809978" cy="1542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296"/>
              </a:lnSpc>
            </a:pPr>
            <a:r>
              <a:rPr lang="en-US" sz="1000" dirty="0">
                <a:latin typeface="Arial" panose="020B0604020202020204" pitchFamily="34" charset="0"/>
                <a:ea typeface="Aileron"/>
                <a:cs typeface="Arial" panose="020B0604020202020204" pitchFamily="34" charset="0"/>
                <a:sym typeface="Aileron"/>
              </a:rPr>
              <a:t>Student Email</a:t>
            </a:r>
          </a:p>
        </p:txBody>
      </p:sp>
      <p:sp>
        <p:nvSpPr>
          <p:cNvPr id="43" name="TextBox 43">
            <a:extLst>
              <a:ext uri="{FF2B5EF4-FFF2-40B4-BE49-F238E27FC236}">
                <a16:creationId xmlns:a16="http://schemas.microsoft.com/office/drawing/2014/main" id="{B84F91E2-C42E-10B3-A03A-88AA58AF1258}"/>
              </a:ext>
            </a:extLst>
          </p:cNvPr>
          <p:cNvSpPr txBox="1"/>
          <p:nvPr/>
        </p:nvSpPr>
        <p:spPr>
          <a:xfrm>
            <a:off x="3176086" y="3803810"/>
            <a:ext cx="2272871" cy="4839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038"/>
              </a:lnSpc>
            </a:pPr>
            <a:r>
              <a:rPr lang="en-US" sz="1200" b="1" dirty="0">
                <a:solidFill>
                  <a:srgbClr val="0D358D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snehakhandelwal666@gmail.com</a:t>
            </a:r>
          </a:p>
        </p:txBody>
      </p:sp>
      <p:pic>
        <p:nvPicPr>
          <p:cNvPr id="51" name="Picture 50" descr="A blue circle with a person and a envelope in it&#10;&#10;AI-generated content may be incorrect.">
            <a:extLst>
              <a:ext uri="{FF2B5EF4-FFF2-40B4-BE49-F238E27FC236}">
                <a16:creationId xmlns:a16="http://schemas.microsoft.com/office/drawing/2014/main" id="{EC8FEF14-C75E-1155-0600-B4343B3F57F8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6859" t="52379" r="26874" b="2349"/>
          <a:stretch>
            <a:fillRect/>
          </a:stretch>
        </p:blipFill>
        <p:spPr>
          <a:xfrm>
            <a:off x="2747249" y="3631981"/>
            <a:ext cx="398279" cy="389719"/>
          </a:xfrm>
          <a:prstGeom prst="rect">
            <a:avLst/>
          </a:prstGeom>
        </p:spPr>
      </p:pic>
      <p:grpSp>
        <p:nvGrpSpPr>
          <p:cNvPr id="66" name="Group 65">
            <a:extLst>
              <a:ext uri="{FF2B5EF4-FFF2-40B4-BE49-F238E27FC236}">
                <a16:creationId xmlns:a16="http://schemas.microsoft.com/office/drawing/2014/main" id="{658A7A12-122B-4A3C-11D3-C4D8BF732077}"/>
              </a:ext>
            </a:extLst>
          </p:cNvPr>
          <p:cNvGrpSpPr/>
          <p:nvPr/>
        </p:nvGrpSpPr>
        <p:grpSpPr>
          <a:xfrm>
            <a:off x="860459" y="4337076"/>
            <a:ext cx="2272871" cy="389019"/>
            <a:chOff x="3139699" y="4295282"/>
            <a:chExt cx="2272871" cy="389019"/>
          </a:xfrm>
        </p:grpSpPr>
        <p:sp>
          <p:nvSpPr>
            <p:cNvPr id="67" name="TextBox 41">
              <a:extLst>
                <a:ext uri="{FF2B5EF4-FFF2-40B4-BE49-F238E27FC236}">
                  <a16:creationId xmlns:a16="http://schemas.microsoft.com/office/drawing/2014/main" id="{5FE6F280-D970-382B-5260-25E219F86722}"/>
                </a:ext>
              </a:extLst>
            </p:cNvPr>
            <p:cNvSpPr txBox="1"/>
            <p:nvPr/>
          </p:nvSpPr>
          <p:spPr>
            <a:xfrm>
              <a:off x="3139699" y="4295282"/>
              <a:ext cx="1809978" cy="15889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1296"/>
                </a:lnSpc>
              </a:pPr>
              <a:r>
                <a:rPr lang="en-US" sz="1000" dirty="0">
                  <a:latin typeface="Arial" panose="020B0604020202020204" pitchFamily="34" charset="0"/>
                  <a:ea typeface="Aileron"/>
                  <a:cs typeface="Arial" panose="020B0604020202020204" pitchFamily="34" charset="0"/>
                  <a:sym typeface="Aileron"/>
                </a:rPr>
                <a:t>Mentor Name</a:t>
              </a:r>
            </a:p>
          </p:txBody>
        </p:sp>
        <p:sp>
          <p:nvSpPr>
            <p:cNvPr id="68" name="TextBox 43">
              <a:extLst>
                <a:ext uri="{FF2B5EF4-FFF2-40B4-BE49-F238E27FC236}">
                  <a16:creationId xmlns:a16="http://schemas.microsoft.com/office/drawing/2014/main" id="{A541DFB6-306C-CD3E-24BD-6D7131F87B73}"/>
                </a:ext>
              </a:extLst>
            </p:cNvPr>
            <p:cNvSpPr txBox="1"/>
            <p:nvPr/>
          </p:nvSpPr>
          <p:spPr>
            <a:xfrm>
              <a:off x="3139699" y="4456866"/>
              <a:ext cx="2272871" cy="22743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>
                <a:lnSpc>
                  <a:spcPts val="2038"/>
                </a:lnSpc>
              </a:pP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R. </a:t>
              </a:r>
              <a:r>
                <a:rPr lang="en-US" sz="1200" b="1" dirty="0" err="1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Umamaheshwari</a:t>
              </a:r>
              <a:r>
                <a:rPr lang="en-US" sz="1200" b="1" dirty="0">
                  <a:solidFill>
                    <a:srgbClr val="0D358D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 </a:t>
              </a:r>
            </a:p>
          </p:txBody>
        </p:sp>
      </p:grpSp>
      <p:pic>
        <p:nvPicPr>
          <p:cNvPr id="71" name="Picture 70">
            <a:extLst>
              <a:ext uri="{FF2B5EF4-FFF2-40B4-BE49-F238E27FC236}">
                <a16:creationId xmlns:a16="http://schemas.microsoft.com/office/drawing/2014/main" id="{4094A52A-31D4-B030-C8BD-9B0ACB0083EC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28109" t="6546" r="28551" b="49509"/>
          <a:stretch>
            <a:fillRect/>
          </a:stretch>
        </p:blipFill>
        <p:spPr>
          <a:xfrm>
            <a:off x="447718" y="4346948"/>
            <a:ext cx="375815" cy="381063"/>
          </a:xfrm>
          <a:prstGeom prst="rect">
            <a:avLst/>
          </a:prstGeom>
        </p:spPr>
      </p:pic>
      <p:grpSp>
        <p:nvGrpSpPr>
          <p:cNvPr id="49" name="Group 48">
            <a:extLst>
              <a:ext uri="{FF2B5EF4-FFF2-40B4-BE49-F238E27FC236}">
                <a16:creationId xmlns:a16="http://schemas.microsoft.com/office/drawing/2014/main" id="{18150B14-0B49-9E22-C961-786A40F27A84}"/>
              </a:ext>
            </a:extLst>
          </p:cNvPr>
          <p:cNvGrpSpPr/>
          <p:nvPr/>
        </p:nvGrpSpPr>
        <p:grpSpPr>
          <a:xfrm>
            <a:off x="595271" y="566321"/>
            <a:ext cx="3051630" cy="258616"/>
            <a:chOff x="1068621" y="826472"/>
            <a:chExt cx="2166264" cy="183584"/>
          </a:xfrm>
        </p:grpSpPr>
        <p:pic>
          <p:nvPicPr>
            <p:cNvPr id="55" name="Picture 54" descr="A blue and black logo&#10;&#10;AI-generated content may be incorrect.">
              <a:extLst>
                <a:ext uri="{FF2B5EF4-FFF2-40B4-BE49-F238E27FC236}">
                  <a16:creationId xmlns:a16="http://schemas.microsoft.com/office/drawing/2014/main" id="{9016EA03-A173-06E1-C2CA-FF7DC65A36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68621" y="826472"/>
              <a:ext cx="632879" cy="158848"/>
            </a:xfrm>
            <a:prstGeom prst="rect">
              <a:avLst/>
            </a:prstGeom>
          </p:spPr>
        </p:pic>
        <p:pic>
          <p:nvPicPr>
            <p:cNvPr id="57" name="Picture 56" descr="A close up of a logo&#10;&#10;AI-generated content may be incorrect.">
              <a:extLst>
                <a:ext uri="{FF2B5EF4-FFF2-40B4-BE49-F238E27FC236}">
                  <a16:creationId xmlns:a16="http://schemas.microsoft.com/office/drawing/2014/main" id="{B084208C-F6C2-47AC-3616-A62F69B53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70437" y="826472"/>
              <a:ext cx="564448" cy="183584"/>
            </a:xfrm>
            <a:prstGeom prst="rect">
              <a:avLst/>
            </a:prstGeom>
          </p:spPr>
        </p:pic>
      </p:grpSp>
      <p:sp>
        <p:nvSpPr>
          <p:cNvPr id="31" name="Shape 7">
            <a:extLst>
              <a:ext uri="{FF2B5EF4-FFF2-40B4-BE49-F238E27FC236}">
                <a16:creationId xmlns:a16="http://schemas.microsoft.com/office/drawing/2014/main" id="{4DEADC42-07CF-F7CC-6F54-42498EAA37B3}"/>
              </a:ext>
            </a:extLst>
          </p:cNvPr>
          <p:cNvSpPr/>
          <p:nvPr/>
        </p:nvSpPr>
        <p:spPr>
          <a:xfrm rot="18195971">
            <a:off x="5802826" y="2309413"/>
            <a:ext cx="283464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Shape 8">
            <a:extLst>
              <a:ext uri="{FF2B5EF4-FFF2-40B4-BE49-F238E27FC236}">
                <a16:creationId xmlns:a16="http://schemas.microsoft.com/office/drawing/2014/main" id="{51B3A474-02DA-6A59-3FFF-434FDDC06A2B}"/>
              </a:ext>
            </a:extLst>
          </p:cNvPr>
          <p:cNvSpPr/>
          <p:nvPr/>
        </p:nvSpPr>
        <p:spPr>
          <a:xfrm rot="18195971">
            <a:off x="6146363" y="2413708"/>
            <a:ext cx="246888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Shape 9">
            <a:extLst>
              <a:ext uri="{FF2B5EF4-FFF2-40B4-BE49-F238E27FC236}">
                <a16:creationId xmlns:a16="http://schemas.microsoft.com/office/drawing/2014/main" id="{075C146A-525E-EAB1-2438-92AF6E344C2C}"/>
              </a:ext>
            </a:extLst>
          </p:cNvPr>
          <p:cNvSpPr/>
          <p:nvPr/>
        </p:nvSpPr>
        <p:spPr>
          <a:xfrm rot="18195971">
            <a:off x="6482126" y="2528680"/>
            <a:ext cx="2103120" cy="109728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9">
            <a:extLst>
              <a:ext uri="{FF2B5EF4-FFF2-40B4-BE49-F238E27FC236}">
                <a16:creationId xmlns:a16="http://schemas.microsoft.com/office/drawing/2014/main" id="{ED47441A-C600-ACAC-5391-EF118874C98C}"/>
              </a:ext>
            </a:extLst>
          </p:cNvPr>
          <p:cNvSpPr/>
          <p:nvPr/>
        </p:nvSpPr>
        <p:spPr>
          <a:xfrm rot="18195971">
            <a:off x="6735713" y="2647223"/>
            <a:ext cx="1872046" cy="116269"/>
          </a:xfrm>
          <a:prstGeom prst="rect">
            <a:avLst/>
          </a:prstGeom>
          <a:solidFill>
            <a:srgbClr val="4FC3F7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21A2EF52-784B-5BFA-EB88-FB9E7588BFF8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b="19729"/>
          <a:stretch>
            <a:fillRect/>
          </a:stretch>
        </p:blipFill>
        <p:spPr>
          <a:xfrm>
            <a:off x="173754" y="773121"/>
            <a:ext cx="3854253" cy="1849530"/>
          </a:xfrm>
          <a:prstGeom prst="rect">
            <a:avLst/>
          </a:prstGeom>
        </p:spPr>
      </p:pic>
      <p:sp>
        <p:nvSpPr>
          <p:cNvPr id="52" name="TextBox 42">
            <a:extLst>
              <a:ext uri="{FF2B5EF4-FFF2-40B4-BE49-F238E27FC236}">
                <a16:creationId xmlns:a16="http://schemas.microsoft.com/office/drawing/2014/main" id="{6114E822-BCD2-EDCF-9B3E-9467CBBE7C59}"/>
              </a:ext>
            </a:extLst>
          </p:cNvPr>
          <p:cNvSpPr txBox="1"/>
          <p:nvPr/>
        </p:nvSpPr>
        <p:spPr>
          <a:xfrm flipH="1">
            <a:off x="5504509" y="1301897"/>
            <a:ext cx="45719" cy="2308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/>
            <a:r>
              <a:rPr lang="en-US" sz="1500" b="1" i="0" u="none" strike="noStrike" baseline="0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500" b="1" dirty="0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rPr>
              <a:t> 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7C5B66B9-82FD-1216-EBCA-8E6DA277DF01}"/>
              </a:ext>
            </a:extLst>
          </p:cNvPr>
          <p:cNvGrpSpPr/>
          <p:nvPr/>
        </p:nvGrpSpPr>
        <p:grpSpPr>
          <a:xfrm>
            <a:off x="-26406" y="2556734"/>
            <a:ext cx="4254569" cy="1079483"/>
            <a:chOff x="0" y="2985846"/>
            <a:chExt cx="4254569" cy="1079483"/>
          </a:xfrm>
        </p:grpSpPr>
        <p:grpSp>
          <p:nvGrpSpPr>
            <p:cNvPr id="27" name="Group 28">
              <a:extLst>
                <a:ext uri="{FF2B5EF4-FFF2-40B4-BE49-F238E27FC236}">
                  <a16:creationId xmlns:a16="http://schemas.microsoft.com/office/drawing/2014/main" id="{DAE40591-CF81-76F2-E153-040DB44B9331}"/>
                </a:ext>
              </a:extLst>
            </p:cNvPr>
            <p:cNvGrpSpPr/>
            <p:nvPr/>
          </p:nvGrpSpPr>
          <p:grpSpPr>
            <a:xfrm>
              <a:off x="0" y="2985846"/>
              <a:ext cx="4254569" cy="930088"/>
              <a:chOff x="0" y="-38100"/>
              <a:chExt cx="4387017" cy="959043"/>
            </a:xfrm>
          </p:grpSpPr>
          <p:sp>
            <p:nvSpPr>
              <p:cNvPr id="38" name="Freeform 29">
                <a:extLst>
                  <a:ext uri="{FF2B5EF4-FFF2-40B4-BE49-F238E27FC236}">
                    <a16:creationId xmlns:a16="http://schemas.microsoft.com/office/drawing/2014/main" id="{D90728E9-11D8-BEA0-7F1A-11B6B0F3ED79}"/>
                  </a:ext>
                </a:extLst>
              </p:cNvPr>
              <p:cNvSpPr/>
              <p:nvPr/>
            </p:nvSpPr>
            <p:spPr>
              <a:xfrm>
                <a:off x="31175" y="514543"/>
                <a:ext cx="4355842" cy="406400"/>
              </a:xfrm>
              <a:custGeom>
                <a:avLst/>
                <a:gdLst/>
                <a:ahLst/>
                <a:cxnLst/>
                <a:rect l="l" t="t" r="r" b="b"/>
                <a:pathLst>
                  <a:path w="4355842" h="406400">
                    <a:moveTo>
                      <a:pt x="4152642" y="0"/>
                    </a:moveTo>
                    <a:lnTo>
                      <a:pt x="0" y="0"/>
                    </a:lnTo>
                    <a:lnTo>
                      <a:pt x="0" y="406400"/>
                    </a:lnTo>
                    <a:lnTo>
                      <a:pt x="4152642" y="406400"/>
                    </a:lnTo>
                    <a:lnTo>
                      <a:pt x="4355842" y="203200"/>
                    </a:lnTo>
                    <a:lnTo>
                      <a:pt x="4152642" y="0"/>
                    </a:lnTo>
                    <a:close/>
                  </a:path>
                </a:pathLst>
              </a:custGeom>
              <a:gradFill rotWithShape="1">
                <a:gsLst>
                  <a:gs pos="0">
                    <a:srgbClr val="042882">
                      <a:alpha val="100000"/>
                    </a:srgbClr>
                  </a:gs>
                  <a:gs pos="100000">
                    <a:srgbClr val="2A83D0">
                      <a:alpha val="100000"/>
                    </a:srgbClr>
                  </a:gs>
                </a:gsLst>
                <a:lin ang="0"/>
              </a:gradFill>
            </p:spPr>
            <p:txBody>
              <a:bodyPr/>
              <a:lstStyle/>
              <a:p>
                <a:endParaRPr lang="en-IN" sz="700"/>
              </a:p>
            </p:txBody>
          </p:sp>
          <p:sp>
            <p:nvSpPr>
              <p:cNvPr id="45" name="TextBox 30">
                <a:extLst>
                  <a:ext uri="{FF2B5EF4-FFF2-40B4-BE49-F238E27FC236}">
                    <a16:creationId xmlns:a16="http://schemas.microsoft.com/office/drawing/2014/main" id="{FE910E71-87D6-9545-1B9A-94640B304A78}"/>
                  </a:ext>
                </a:extLst>
              </p:cNvPr>
              <p:cNvSpPr txBox="1"/>
              <p:nvPr/>
            </p:nvSpPr>
            <p:spPr>
              <a:xfrm>
                <a:off x="0" y="-38100"/>
                <a:ext cx="4241542" cy="444500"/>
              </a:xfrm>
              <a:prstGeom prst="rect">
                <a:avLst/>
              </a:prstGeom>
            </p:spPr>
            <p:txBody>
              <a:bodyPr lIns="25400" tIns="25400" rIns="25400" bIns="25400" rtlCol="0" anchor="ctr"/>
              <a:lstStyle/>
              <a:p>
                <a:pPr algn="ctr">
                  <a:lnSpc>
                    <a:spcPts val="1330"/>
                  </a:lnSpc>
                </a:pPr>
                <a:endParaRPr sz="700"/>
              </a:p>
            </p:txBody>
          </p:sp>
        </p:grpSp>
        <p:sp>
          <p:nvSpPr>
            <p:cNvPr id="37" name="TextBox 44">
              <a:extLst>
                <a:ext uri="{FF2B5EF4-FFF2-40B4-BE49-F238E27FC236}">
                  <a16:creationId xmlns:a16="http://schemas.microsoft.com/office/drawing/2014/main" id="{32A87B5E-B531-4A22-FAB1-2256D2CE91D2}"/>
                </a:ext>
              </a:extLst>
            </p:cNvPr>
            <p:cNvSpPr txBox="1"/>
            <p:nvPr/>
          </p:nvSpPr>
          <p:spPr>
            <a:xfrm>
              <a:off x="140947" y="3598085"/>
              <a:ext cx="4107903" cy="467244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>
                <a:lnSpc>
                  <a:spcPts val="1943"/>
                </a:lnSpc>
              </a:pPr>
              <a:r>
                <a:rPr lang="en-US" sz="1400" b="1" dirty="0">
                  <a:solidFill>
                    <a:schemeClr val="bg1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Pay Lens: </a:t>
              </a:r>
              <a:r>
                <a:rPr lang="en-US" sz="1400" b="1" i="0" u="none" strike="noStrike" baseline="0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visualizing salary truth with AI &amp; BI </a:t>
              </a:r>
              <a:r>
                <a:rPr lang="en-US" sz="1400" b="1" dirty="0">
                  <a:solidFill>
                    <a:schemeClr val="bg1"/>
                  </a:solidFill>
                  <a:latin typeface="Arial" panose="020B0604020202020204" pitchFamily="34" charset="0"/>
                  <a:ea typeface="Aileron Bold"/>
                  <a:cs typeface="Arial" panose="020B0604020202020204" pitchFamily="34" charset="0"/>
                  <a:sym typeface="Aileron Bold"/>
                </a:rPr>
                <a:t> </a:t>
              </a:r>
            </a:p>
            <a:p>
              <a:pPr>
                <a:lnSpc>
                  <a:spcPts val="1943"/>
                </a:lnSpc>
              </a:pPr>
              <a:endParaRPr lang="en-US" sz="1400" b="1" spc="583" dirty="0">
                <a:solidFill>
                  <a:srgbClr val="FFFFFF"/>
                </a:solidFill>
                <a:latin typeface="Arial" panose="020B0604020202020204" pitchFamily="34" charset="0"/>
                <a:ea typeface="Aileron Bold"/>
                <a:cs typeface="Arial" panose="020B0604020202020204" pitchFamily="34" charset="0"/>
                <a:sym typeface="Aileron Bold"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212236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10217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Outline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865657-EE51-429D-40B6-B64C80E4AB47}"/>
              </a:ext>
            </a:extLst>
          </p:cNvPr>
          <p:cNvSpPr txBox="1"/>
          <p:nvPr/>
        </p:nvSpPr>
        <p:spPr>
          <a:xfrm>
            <a:off x="125239" y="1080603"/>
            <a:ext cx="4446761" cy="2780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Abstract of the Project</a:t>
            </a:r>
            <a:endParaRPr lang="en-IN" sz="1600" dirty="0">
              <a:solidFill>
                <a:schemeClr val="tx1"/>
              </a:solidFill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Problem Statement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Proposed Solution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System Architecture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Live Demo of the Project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Embedded Video of Project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IN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Conclusion</a:t>
            </a:r>
          </a:p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ea typeface="+mn-lt"/>
                <a:cs typeface="Times New Roman" panose="02020603050405020304" pitchFamily="18" charset="0"/>
              </a:rPr>
              <a:t>Future Scope</a:t>
            </a:r>
          </a:p>
        </p:txBody>
      </p:sp>
      <p:pic>
        <p:nvPicPr>
          <p:cNvPr id="25" name="Picture 2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3A7F110-9D19-8523-45D3-77B1951C883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250" t="7320" r="18976" b="28715"/>
          <a:stretch>
            <a:fillRect/>
          </a:stretch>
        </p:blipFill>
        <p:spPr>
          <a:xfrm>
            <a:off x="5378824" y="1034325"/>
            <a:ext cx="2868706" cy="3290047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40079" y="6075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849028-F25C-7DA0-DE56-0DC142EECABD}"/>
              </a:ext>
            </a:extLst>
          </p:cNvPr>
          <p:cNvSpPr txBox="1"/>
          <p:nvPr/>
        </p:nvSpPr>
        <p:spPr>
          <a:xfrm>
            <a:off x="125240" y="1082801"/>
            <a:ext cx="5002346" cy="3703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b="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Problem - Payroll systems often lack transparency, causing confusion in salary, overtime, deductions, &amp; benchmarking.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- To preprocess payroll data taking reference from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kaggle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b="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Tools - Excel for data cleaning and calculations, Power BI was used for visualization, copilot to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 summary and business report, chatbot for transparency.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– interactive dashboard, structured dataset, easy to use chatbot bridging all the gaps.  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b="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Solution - An AI- and BI-based payroll transparency system can provide clear and explainable salary breakdowns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Freeform 28">
            <a:extLst>
              <a:ext uri="{FF2B5EF4-FFF2-40B4-BE49-F238E27FC236}">
                <a16:creationId xmlns:a16="http://schemas.microsoft.com/office/drawing/2014/main" id="{AA7F05EE-340D-A58A-BAD0-FB0660B2D339}"/>
              </a:ext>
            </a:extLst>
          </p:cNvPr>
          <p:cNvSpPr/>
          <p:nvPr/>
        </p:nvSpPr>
        <p:spPr>
          <a:xfrm>
            <a:off x="5814470" y="1082801"/>
            <a:ext cx="3070450" cy="2997875"/>
          </a:xfrm>
          <a:custGeom>
            <a:avLst/>
            <a:gdLst/>
            <a:ahLst/>
            <a:cxnLst/>
            <a:rect l="l" t="t" r="r" b="b"/>
            <a:pathLst>
              <a:path w="4114800" h="4017541">
                <a:moveTo>
                  <a:pt x="0" y="0"/>
                </a:moveTo>
                <a:lnTo>
                  <a:pt x="4114800" y="0"/>
                </a:lnTo>
                <a:lnTo>
                  <a:pt x="4114800" y="4017541"/>
                </a:lnTo>
                <a:lnTo>
                  <a:pt x="0" y="40175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 Statement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762910" cy="2021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 Salary breakdown, overtime payment compliance, equity benchmark.  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solidFill>
                  <a:srgbClr val="27251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</a:t>
            </a:r>
            <a:r>
              <a:rPr lang="en-US" sz="1600" b="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roblem is significant because poor payroll transparency can cause fairness issues, legal risks, employee distrust, and salary disputes.</a:t>
            </a:r>
          </a:p>
          <a:p>
            <a:pPr marL="285750" indent="-285750" algn="just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US" sz="1600" dirty="0">
                <a:solidFill>
                  <a:srgbClr val="27251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Affected user include HR, blue collar and gig economy, Management. </a:t>
            </a:r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7B2E24-A610-1C01-FCDD-9B6B67A72E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8151" y="873760"/>
            <a:ext cx="3947240" cy="3947240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0623" y="611286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Problem Statement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76AC24-5CB7-D860-6A01-E6D8ABD38610}"/>
              </a:ext>
            </a:extLst>
          </p:cNvPr>
          <p:cNvSpPr txBox="1"/>
          <p:nvPr/>
        </p:nvSpPr>
        <p:spPr>
          <a:xfrm>
            <a:off x="125240" y="1082801"/>
            <a:ext cx="4762910" cy="17748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Wingdings" panose="05000000000000000000" pitchFamily="2" charset="2"/>
              <a:buChar char="Ø"/>
              <a:tabLst>
                <a:tab pos="4229100" algn="ctr"/>
              </a:tabLst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Scope &amp; boundaries </a:t>
            </a: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Focus: Payroll transparency, pay equity benchmarking, compliance verification using Excel, Power BI, Copilot, and Chatbot.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28600" indent="-228600" algn="just">
              <a:spcAft>
                <a:spcPts val="800"/>
              </a:spcAft>
              <a:buFont typeface="Arial" panose="020B0604020202020204" pitchFamily="34" charset="0"/>
              <a:buChar char="•"/>
              <a:tabLst>
                <a:tab pos="4229100" algn="ctr"/>
              </a:tabLst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Excludes: Real-time integrations &amp; advanced ML models. </a:t>
            </a:r>
            <a:endParaRPr lang="en-IN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333358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Proposed Solution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3"/>
            <a:ext cx="441615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i="0" dirty="0">
                <a:solidFill>
                  <a:srgbClr val="27251E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An integrated digital payroll solution is proposed to enhance compensation transparency, automate discrepancy detection, support compliance monitoring, and improve employee access to payroll information. 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1F49F94-4102-44CC-056B-FA1BB4DA8D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0286" y="725532"/>
            <a:ext cx="4903714" cy="4203183"/>
          </a:xfrm>
          <a:prstGeom prst="rect">
            <a:avLst/>
          </a:prstGeom>
        </p:spPr>
      </p:pic>
      <p:sp>
        <p:nvSpPr>
          <p:cNvPr id="4" name="Text 2"/>
          <p:cNvSpPr/>
          <p:nvPr/>
        </p:nvSpPr>
        <p:spPr>
          <a:xfrm>
            <a:off x="125486" y="61693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Proposed Solution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4846320" y="1280160"/>
            <a:ext cx="39319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8000" dirty="0"/>
          </a:p>
        </p:txBody>
      </p:sp>
      <p:sp>
        <p:nvSpPr>
          <p:cNvPr id="5" name="Text 12"/>
          <p:cNvSpPr/>
          <p:nvPr/>
        </p:nvSpPr>
        <p:spPr>
          <a:xfrm>
            <a:off x="125486" y="1046012"/>
            <a:ext cx="4416154" cy="375810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solve the problem of data complexity and automation with formula based. Clean payroll data, calculate Gross CTC, Net Salary, and Overtime Pay.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Dashboards - 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Visualize pay equity, compliance alerts, and departmental comparison. Assist business taking analytical decisions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Copilot AI -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Detect anomalies, flag statutory compliance issues, simplify policy communication, create summary and business report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Chatbot Prototype -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Employee-facing tool for salary breakdowns, overtime checks, benchmark analysis and policy updates.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4154416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0" y="602920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System Architecture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23540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16732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8" name="Text 6"/>
          <p:cNvSpPr/>
          <p:nvPr/>
        </p:nvSpPr>
        <p:spPr>
          <a:xfrm>
            <a:off x="32684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Data Input / Source – step 1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32684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Payroll dataset (Excel records: Employee ID, CTC, Overtime, Deductions).</a:t>
            </a:r>
          </a:p>
        </p:txBody>
      </p:sp>
      <p:sp>
        <p:nvSpPr>
          <p:cNvPr id="10" name="Shape 8"/>
          <p:cNvSpPr/>
          <p:nvPr/>
        </p:nvSpPr>
        <p:spPr>
          <a:xfrm>
            <a:off x="4670248" y="1243200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 sz="160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8602168" y="1243200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4761688" y="1279776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Processing / Analysis – step 2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4761688" y="1700400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formulas &amp; DAX in Power BI - clean, calculate, and analyze payroll data.</a:t>
            </a:r>
          </a:p>
        </p:txBody>
      </p:sp>
      <p:sp>
        <p:nvSpPr>
          <p:cNvPr id="14" name="Shape 12"/>
          <p:cNvSpPr/>
          <p:nvPr/>
        </p:nvSpPr>
        <p:spPr>
          <a:xfrm>
            <a:off x="23540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16732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2684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/ Tool Integration – step 3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32684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Copilot AI -  anomaly detection &amp; compliance alerts; Chatbot handles employee queries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670248" y="2969856"/>
            <a:ext cx="4114800" cy="38404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602168" y="2969856"/>
            <a:ext cx="320040" cy="384048"/>
          </a:xfrm>
          <a:prstGeom prst="rect">
            <a:avLst/>
          </a:prstGeom>
          <a:solidFill>
            <a:srgbClr val="1B3A8A"/>
          </a:solidFill>
          <a:ln/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761688" y="300643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Output / Dashboard – step 4 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4761688" y="3427056"/>
            <a:ext cx="40233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just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dashboards - salary breakdown, pay equity visuals, compliance alerts, benchmarking</a:t>
            </a:r>
            <a:r>
              <a:rPr lang="en-US" sz="1600" dirty="0"/>
              <a:t>.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</p:spTree>
    <p:custDataLst>
      <p:tags r:id="rId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0623" y="607298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Live Demo of Project</a:t>
            </a:r>
            <a:endParaRPr lang="en-US" sz="20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125487" y="1105839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Here's the list of some demo screenshots / features of the project: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978408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274320" y="2196877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274320" y="262424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1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06908" y="3066715"/>
            <a:ext cx="2514600" cy="195773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ETL approach – </a:t>
            </a:r>
          </a:p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Extraction and transformation of data into structured standardized format. </a:t>
            </a:r>
          </a:p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Loading it in Power BI for report creation.  </a:t>
            </a:r>
          </a:p>
          <a:p>
            <a:pPr marL="0" indent="0" algn="ctr">
              <a:buNone/>
            </a:pPr>
            <a:r>
              <a:rPr lang="en-US" sz="1600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 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3922776" y="1648237"/>
            <a:ext cx="1371600" cy="1371600"/>
          </a:xfrm>
          <a:prstGeom prst="ellipse">
            <a:avLst/>
          </a:prstGeom>
          <a:solidFill>
            <a:srgbClr val="FFC00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3227832" y="2279758"/>
            <a:ext cx="2788920" cy="2651760"/>
          </a:xfrm>
          <a:prstGeom prst="rect">
            <a:avLst/>
          </a:prstGeom>
          <a:solidFill>
            <a:srgbClr val="FDF3ED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3206379" y="2582732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2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355848" y="2825282"/>
            <a:ext cx="2514600" cy="1767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DAX Measures applied, visualization were prepared. The dashboard is being prepared.  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867144" y="1648237"/>
            <a:ext cx="1371600" cy="1371600"/>
          </a:xfrm>
          <a:prstGeom prst="ellipse">
            <a:avLst/>
          </a:prstGeom>
          <a:solidFill>
            <a:srgbClr val="1565C0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N">
              <a:latin typeface="Lato" panose="020F0502020204030203" pitchFamily="34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6867144" y="1648237"/>
            <a:ext cx="1371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3600" dirty="0">
              <a:latin typeface="Lato" panose="020F0502020204030203" pitchFamily="34" charset="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163056" y="2200479"/>
            <a:ext cx="2788920" cy="26517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 dirty="0">
              <a:latin typeface="Lato" panose="020F0502020204030203" pitchFamily="34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6177574" y="2580376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Lato" panose="020F0502020204030203" pitchFamily="34" charset="0"/>
                <a:ea typeface="Calibri" pitchFamily="34" charset="-122"/>
                <a:cs typeface="Arial" panose="020B0604020202020204" pitchFamily="34" charset="0"/>
              </a:rPr>
              <a:t>Demo 3</a:t>
            </a:r>
            <a:endParaRPr lang="en-US" sz="1600" dirty="0">
              <a:latin typeface="Lato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00216" y="2919838"/>
            <a:ext cx="2514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 bot and agent to bridge transparency gap 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CB6BE0-EE5F-4CCB-A956-5F12622D35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3488788" y="1457689"/>
            <a:ext cx="2263238" cy="116955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CE4515-2238-0A71-B462-E20BA6CC00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1295" y="1439332"/>
            <a:ext cx="2159955" cy="12149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EB92A511-8756-72A8-6EFF-62B31D926F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283" y="1437760"/>
            <a:ext cx="2017111" cy="1193388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20040" y="621792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3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of Project Demo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692834"/>
            <a:ext cx="8412480" cy="3977640"/>
          </a:xfrm>
          <a:prstGeom prst="rect">
            <a:avLst/>
          </a:prstGeom>
          <a:solidFill>
            <a:srgbClr val="ECEFF1"/>
          </a:solidFill>
          <a:ln w="25400">
            <a:solidFill>
              <a:srgbClr val="1B3A8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E0E0E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02920" y="777240"/>
            <a:ext cx="164592" cy="164592"/>
          </a:xfrm>
          <a:prstGeom prst="ellipse">
            <a:avLst/>
          </a:prstGeom>
          <a:solidFill>
            <a:srgbClr val="FF5F57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731520" y="777240"/>
            <a:ext cx="164592" cy="164592"/>
          </a:xfrm>
          <a:prstGeom prst="ellipse">
            <a:avLst/>
          </a:prstGeom>
          <a:solidFill>
            <a:srgbClr val="FEBC2E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960120" y="777240"/>
            <a:ext cx="164592" cy="164592"/>
          </a:xfrm>
          <a:prstGeom prst="ellipse">
            <a:avLst/>
          </a:prstGeom>
          <a:solidFill>
            <a:srgbClr val="28C84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1371600" y="777240"/>
            <a:ext cx="5029200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1389888" y="768096"/>
            <a:ext cx="499262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[https://your-project-demo-link.com]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749040" y="1828800"/>
            <a:ext cx="1645920" cy="1645920"/>
          </a:xfrm>
          <a:prstGeom prst="ellipse">
            <a:avLst/>
          </a:prstGeom>
          <a:solidFill>
            <a:srgbClr val="1B3A8A">
              <a:alpha val="80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3749040" y="1828800"/>
            <a:ext cx="1645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dirty="0">
                <a:solidFill>
                  <a:srgbClr val="FFFFFF"/>
                </a:solidFill>
              </a:rPr>
              <a:t>▶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914400" y="3794760"/>
            <a:ext cx="7315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project demo video.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i="1" dirty="0">
                <a:solidFill>
                  <a:srgbClr val="607D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embed a video your live project.]</a:t>
            </a:r>
            <a:endParaRPr lang="en-US" sz="1100" dirty="0"/>
          </a:p>
        </p:txBody>
      </p:sp>
    </p:spTree>
    <p:custDataLst>
      <p:tags r:id="rId1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Conclusion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19871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/>
            <a:r>
              <a:rPr lang="en-US" sz="1600" b="0" i="0" dirty="0">
                <a:solidFill>
                  <a:srgbClr val="27251E"/>
                </a:solidFill>
                <a:effectLst/>
                <a:latin typeface="pplxSerif"/>
              </a:rPr>
              <a:t>This project integrates Excel, Power BI, Copilot AI, and chatbot technology to improve payroll transparency and compliance. It delivers clear salary insights, reduces disputes, and supports scalable AI-driven payroll management.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30351" y="612064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Conclusion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5486" y="1084927"/>
            <a:ext cx="4446513" cy="282934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 achieved –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an Excel with standardized structure and automated financial calculation.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Interactive power BI dashboard with Dax measure. 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copilot agent which can prepare report, summary, policy update, discrepancy alerts.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chatbot enabled in Copilot to simplify and explain the payroll structure, compliance fulfilled or not, policy explanation.  </a:t>
            </a:r>
          </a:p>
        </p:txBody>
      </p:sp>
      <p:sp>
        <p:nvSpPr>
          <p:cNvPr id="19" name="Text 17"/>
          <p:cNvSpPr/>
          <p:nvPr/>
        </p:nvSpPr>
        <p:spPr>
          <a:xfrm>
            <a:off x="5303520" y="347472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Lato" panose="020F0502020204030203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600" dirty="0">
              <a:latin typeface="Lato" panose="020F0502020204030203" pitchFamily="34" charset="0"/>
            </a:endParaRPr>
          </a:p>
        </p:txBody>
      </p:sp>
      <p:pic>
        <p:nvPicPr>
          <p:cNvPr id="20" name="Picture 19" descr="A blue circle with a pencil and paper with a star on it&#10;&#10;AI-generated content may be incorrect.">
            <a:extLst>
              <a:ext uri="{FF2B5EF4-FFF2-40B4-BE49-F238E27FC236}">
                <a16:creationId xmlns:a16="http://schemas.microsoft.com/office/drawing/2014/main" id="{BAE68F53-65EE-1751-E92D-7025D978B68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 l="25397" t="26296" r="26825" b="29752"/>
          <a:stretch>
            <a:fillRect/>
          </a:stretch>
        </p:blipFill>
        <p:spPr>
          <a:xfrm>
            <a:off x="4898406" y="971550"/>
            <a:ext cx="3597456" cy="3309355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510777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123247" y="613561"/>
            <a:ext cx="822960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3A8A"/>
                </a:solidFill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Future Scope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123247" y="1082104"/>
            <a:ext cx="4114800" cy="2776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en-I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Data Integration</a:t>
            </a:r>
            <a:endParaRPr lang="en-US" sz="1600" dirty="0">
              <a:solidFill>
                <a:srgbClr val="1A1A2E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Predictive Analytics </a:t>
            </a:r>
            <a:endParaRPr lang="en-US" sz="1600" dirty="0">
              <a:solidFill>
                <a:srgbClr val="1A1A2E"/>
              </a:solidFill>
              <a:latin typeface="Times New Roman" panose="02020603050405020304" pitchFamily="18" charset="0"/>
              <a:ea typeface="Calibri" pitchFamily="34" charset="-122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Mobile App Interface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Multilingual Support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Extend solution to SMEs, startups, and educational institutions for payroll transparency.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Benchmarking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 through Macros and VBA and power Query enabled.</a:t>
            </a:r>
          </a:p>
          <a:p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12449DB-BF51-DAAE-EA83-F4C00896763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635" y="879613"/>
            <a:ext cx="4512365" cy="3384274"/>
          </a:xfrm>
          <a:prstGeom prst="rect">
            <a:avLst/>
          </a:prstGeom>
        </p:spPr>
      </p:pic>
    </p:spTree>
    <p:custDataLst>
      <p:tags r:id="rId1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3"/>
          <p:cNvSpPr/>
          <p:nvPr/>
        </p:nvSpPr>
        <p:spPr>
          <a:xfrm>
            <a:off x="914400" y="30175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200" dirty="0">
                <a:latin typeface="Times New Roman" panose="02020603050405020304" pitchFamily="18" charset="0"/>
                <a:ea typeface="Calibri" pitchFamily="34" charset="-122"/>
                <a:cs typeface="Times New Roman" panose="02020603050405020304" pitchFamily="18" charset="0"/>
              </a:rPr>
              <a:t>AICW Fellowship  |  Student Project Presentation 2026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914400" y="3566160"/>
            <a:ext cx="7315200" cy="32004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marL="0" indent="0" algn="ctr">
              <a:buNone/>
            </a:pPr>
            <a:r>
              <a:rPr lang="en-US" sz="1100" dirty="0">
                <a:latin typeface="Lato" panose="020F0502020204030203" pitchFamily="34" charset="0"/>
                <a:ea typeface="Calibri"/>
                <a:cs typeface="Arial" panose="020B0604020202020204" pitchFamily="34" charset="0"/>
              </a:rPr>
              <a:t>  </a:t>
            </a:r>
            <a:r>
              <a:rPr lang="en-US" sz="11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LinkedIn  |   </a:t>
            </a:r>
            <a:r>
              <a:rPr lang="en-US" sz="1100" dirty="0" err="1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Edunet</a:t>
            </a:r>
            <a:r>
              <a:rPr lang="en-US" sz="1100" dirty="0">
                <a:latin typeface="Times New Roman" panose="02020603050405020304" pitchFamily="18" charset="0"/>
                <a:ea typeface="Calibri"/>
                <a:cs typeface="Times New Roman" panose="02020603050405020304" pitchFamily="18" charset="0"/>
              </a:rPr>
              <a:t> Foundation</a:t>
            </a:r>
            <a:endParaRPr lang="en-US" sz="1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TextBox 4">
            <a:extLst>
              <a:ext uri="{FF2B5EF4-FFF2-40B4-BE49-F238E27FC236}">
                <a16:creationId xmlns:a16="http://schemas.microsoft.com/office/drawing/2014/main" id="{F7A740B1-0782-B37E-5F62-503024E32BC9}"/>
              </a:ext>
            </a:extLst>
          </p:cNvPr>
          <p:cNvSpPr txBox="1"/>
          <p:nvPr/>
        </p:nvSpPr>
        <p:spPr>
          <a:xfrm>
            <a:off x="2632982" y="1705295"/>
            <a:ext cx="3878036" cy="11750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0686"/>
              </a:lnSpc>
            </a:pPr>
            <a:r>
              <a:rPr lang="en-US" sz="5000" b="1" dirty="0">
                <a:solidFill>
                  <a:srgbClr val="0D358D"/>
                </a:solidFill>
                <a:latin typeface="Times New Roman" panose="02020603050405020304" pitchFamily="18" charset="0"/>
                <a:ea typeface="Aileron Ultra-Bold"/>
                <a:cs typeface="Times New Roman" panose="02020603050405020304" pitchFamily="18" charset="0"/>
                <a:sym typeface="Aileron Ultra-Bold"/>
              </a:rPr>
              <a:t>Thank You</a:t>
            </a:r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DESIGN_ID_OFFICE THEME" val="ROGxgyxs"/>
  <p:tag name="ARTICULATE_PROJECT_OPEN" val="0"/>
  <p:tag name="ARTICULATE_SLIDE_COUNT" val="1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THUMBNAIL_REFRESH" val="1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731</TotalTime>
  <Words>700</Words>
  <Application>Microsoft Office PowerPoint</Application>
  <PresentationFormat>On-screen Show (16:9)</PresentationFormat>
  <Paragraphs>98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Arial</vt:lpstr>
      <vt:lpstr>Calibri</vt:lpstr>
      <vt:lpstr>Lato</vt:lpstr>
      <vt:lpstr>pplxSerif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AICW Student Project Presentation Template 2026</dc:title>
  <dc:subject>PptxGenJS Presentation</dc:subject>
  <dc:creator>PptxGenJS</dc:creator>
  <cp:lastModifiedBy>sneha khandelwal</cp:lastModifiedBy>
  <cp:revision>36</cp:revision>
  <dcterms:created xsi:type="dcterms:W3CDTF">2026-02-18T09:17:23Z</dcterms:created>
  <dcterms:modified xsi:type="dcterms:W3CDTF">2026-04-17T12:48:50Z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rticulateGUID">
    <vt:lpwstr>1F7F540C-1CAD-4091-84DE-558331FD12BA</vt:lpwstr>
  </property>
  <property fmtid="{D5CDD505-2E9C-101B-9397-08002B2CF9AE}" pid="3" name="ArticulatePath">
    <vt:lpwstr>https://edunetfoundationorg-my.sharepoint.com/personal/kaisar_edunetfoundation_org/Documents/Task/AICW/Student project/AI Fellowship Project Template2026 (1)</vt:lpwstr>
  </property>
</Properties>
</file>